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10"/>
  </p:normalViewPr>
  <p:slideViewPr>
    <p:cSldViewPr snapToGrid="0" snapToObjects="1" showGuides="1">
      <p:cViewPr>
        <p:scale>
          <a:sx n="83" d="100"/>
          <a:sy n="83" d="100"/>
        </p:scale>
        <p:origin x="76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828800" y="457200"/>
            <a:ext cx="5486400" cy="4114800"/>
          </a:xfrm>
          <a:prstGeom prst="line">
            <a:avLst/>
          </a:prstGeom>
          <a:solidFill>
            <a:srgbClr val="2C5F2D">
              <a:alpha val="25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280160" y="32004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280160" y="320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🌿 DISASTER MITIGATION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3520440" y="320040"/>
            <a:ext cx="2103120" cy="292608"/>
          </a:xfrm>
          <a:prstGeom prst="roundRect">
            <a:avLst>
              <a:gd name="adj" fmla="val 46875"/>
            </a:avLst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520440" y="32004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🤖 ROBOTICS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852160" y="32004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3200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1A"/>
                </a:solidFill>
              </a:rPr>
              <a:t>🌱 ENVIRONMENT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14400" y="77724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300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RAPIDLY REPLACEABLE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914400" y="12344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MODULAR BAMBOO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914400" y="1810512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7BC67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FLOOD BARRIER</a:t>
            </a:r>
            <a:endParaRPr lang="en-US" sz="4200" dirty="0"/>
          </a:p>
        </p:txBody>
      </p:sp>
      <p:sp>
        <p:nvSpPr>
          <p:cNvPr id="14" name="Shape 10"/>
          <p:cNvSpPr/>
          <p:nvPr/>
        </p:nvSpPr>
        <p:spPr>
          <a:xfrm>
            <a:off x="2011680" y="2606040"/>
            <a:ext cx="5120640" cy="594360"/>
          </a:xfrm>
          <a:prstGeom prst="roundRect">
            <a:avLst>
              <a:gd name="adj" fmla="val 18462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11680" y="2606040"/>
            <a:ext cx="51206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An Eco-Friendly Parallel Bandalling System with Arduino-Based Telemetry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71600" y="3429000"/>
            <a:ext cx="6400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Grade 10  •  Bislig City National High School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Valenzuela  ·  Taperla  ·  Cuanan  ·  Nable  ·  Lim  ·  Embodo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00400" y="425196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🎍 🎋 🎍 🎋 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132320" cy="658368"/>
          </a:xfrm>
          <a:prstGeom prst="round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INTRODUCTION &amp; THE PROBLEM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82880" y="77724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7772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01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28600" y="11887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93192" y="1371600"/>
            <a:ext cx="502920" cy="502920"/>
          </a:xfrm>
          <a:prstGeom prst="lin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1732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8408" y="13533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Climate Vulnerability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78408" y="164592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Philippines faces ~20 typhoons annually, causing severe river overflows &amp; catastrophic flash floods.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749040" y="11887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913632" y="1371600"/>
            <a:ext cx="502920" cy="502920"/>
          </a:xfrm>
          <a:prstGeom prst="lin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141732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98848" y="13533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High-Cost Fixes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498848" y="164592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Reinforced concrete dikes require massive capital and cannot adapt to localized failures.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28600" y="27889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93192" y="2971800"/>
            <a:ext cx="502920" cy="502920"/>
          </a:xfrm>
          <a:prstGeom prst="lin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01752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78408" y="29535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Maintenance Deficit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978408" y="324612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Traditional solid river barriers are difficult and expensive to repair after high-velocity debris damage.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749040" y="278892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913632" y="2971800"/>
            <a:ext cx="502920" cy="502920"/>
          </a:xfrm>
          <a:prstGeom prst="lin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352" y="30175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498848" y="2953512"/>
            <a:ext cx="2514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Data Isolation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498848" y="3246120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Vulnerable zones lack real-time telemetry to instantly warn riverside families when water breaches thresholds.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228600" y="448056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8C4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🎍  Bambusa blumeana (Kawayan Tinik) offers a nature-positive, low-cost alternative.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8800" y="16459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PROPOSED SOLUTION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828800" y="5943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BC67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&amp; RESEARCH QUESTION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828800" y="105156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1051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0" y="1444752"/>
            <a:ext cx="7132320" cy="896112"/>
          </a:xfrm>
          <a:prstGeom prst="roundRect">
            <a:avLst>
              <a:gd name="adj" fmla="val 12245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65960" y="1627632"/>
            <a:ext cx="502920" cy="502920"/>
          </a:xfrm>
          <a:prstGeom prst="lin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73352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78608" y="155448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Modular Hydrodynamic Barrier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578608" y="1847088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Rapidly repairable parallel bandalling structure of mature Bambusa blumeana (Kawayan Tinik) — designed for quick part-replacement without full teardown.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828800" y="2468880"/>
            <a:ext cx="7132320" cy="896112"/>
          </a:xfrm>
          <a:prstGeom prst="roundRect">
            <a:avLst>
              <a:gd name="adj" fmla="val 12245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965960" y="2651760"/>
            <a:ext cx="502920" cy="502920"/>
          </a:xfrm>
          <a:prstGeom prst="lin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697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78608" y="257860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Electronic Telemetry Unit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578608" y="2871216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Arduino Uno + solar-ready framework linked to an HC-SR04 ultrasonic sensor for continuous, real-time water level logging.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828800" y="3493008"/>
            <a:ext cx="7132320" cy="896112"/>
          </a:xfrm>
          <a:prstGeom prst="roundRect">
            <a:avLst>
              <a:gd name="adj" fmla="val 12245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965960" y="3675888"/>
            <a:ext cx="502920" cy="502920"/>
          </a:xfrm>
          <a:prstGeom prst="lin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72160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78608" y="360273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Remote Alert Interface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2578608" y="3895344"/>
            <a:ext cx="6217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GSM SIM800L module broadcasts localized emergency SMS notifications directly to community households when an active surge is detected.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1828800" y="4526280"/>
            <a:ext cx="7132320" cy="502920"/>
          </a:xfrm>
          <a:prstGeom prst="roundRect">
            <a:avLst>
              <a:gd name="adj" fmla="val 21818"/>
            </a:avLst>
          </a:prstGeom>
          <a:solidFill>
            <a:srgbClr val="2C5F2D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920240" y="4526280"/>
            <a:ext cx="6949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7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Research Question: </a:t>
            </a: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Can a rapidly replaceable, variable-spaced Bambusa blumeana bandalling system establish a low-velocity wake zone to reduce riverbank erosion while maintaining &gt;90% real-time water level warning accuracy?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132320" cy="658368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METHODOLOGY — BARRIER MECHANICAL DESIGN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182880" y="77724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7772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1A"/>
                </a:solidFill>
              </a:rPr>
              <a:t>SLIDE 03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28600" y="1143000"/>
            <a:ext cx="6903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47472" y="1417320"/>
            <a:ext cx="502920" cy="502920"/>
          </a:xfrm>
          <a:prstGeom prst="lin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87552" y="1261872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Longitudinal Parallel Groyne Placement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87552" y="1581912"/>
            <a:ext cx="5989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Barriers are positioned offshore, parallel to the riverbank slope at acute angles of 45°–60° — not as a blunt wall but as a deflecting structure.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28600" y="2377440"/>
            <a:ext cx="6903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" y="2651760"/>
            <a:ext cx="502920" cy="502920"/>
          </a:xfrm>
          <a:prstGeom prst="lin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2651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87552" y="2496312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Deflecting the Thalweg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87552" y="2816352"/>
            <a:ext cx="5989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strategic angle trains the river's thalweg (fastest, deepest current path) away from the fragile soil of the bank line, reducing erosive energy.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28600" y="3611880"/>
            <a:ext cx="69037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47472" y="3886200"/>
            <a:ext cx="502920" cy="502920"/>
          </a:xfrm>
          <a:prstGeom prst="lin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" y="3886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987552" y="3730752"/>
            <a:ext cx="5989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Rapid Replaceability Framework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87552" y="4050792"/>
            <a:ext cx="598932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Bambusa blumeana stalks are anchored via a variable-spaced modular guide rail. Individual damaged stalks can be unbolted and replaced without compromising the entire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" y="1371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METHODOLOGY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4320" y="475488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67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Computational Modeling Argument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74320" y="86868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8686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261872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325880"/>
            <a:ext cx="3886200" cy="292608"/>
          </a:xfrm>
          <a:prstGeom prst="roundRect">
            <a:avLst>
              <a:gd name="adj" fmla="val 25000"/>
            </a:avLst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32588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Discretization Concept (CFD)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166420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river is a continuous chaotic system. CFD breaks water into tracking 'cells' (meshing). Our framework tracks individual particle fields to map velocity gradient changes.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1261872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325880"/>
            <a:ext cx="3886200" cy="292608"/>
          </a:xfrm>
          <a:prstGeom prst="roundRect">
            <a:avLst>
              <a:gd name="adj" fmla="val 25000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9160" y="1325880"/>
            <a:ext cx="3886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Large Eddy Simulation (LES)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54880" y="1664208"/>
            <a:ext cx="37947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Instead of DNS (requires supercomputers), we use p5.js macro-behavior simulation mimicking an LES model — tracking primary kinetic energy paths to observe velocity drops through the barrier.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74320" y="290779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Domain Boundary Conditions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4320" y="32918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3364992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INFLOW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38912" y="3685032"/>
            <a:ext cx="2322576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Steady high-velocity current (heavy flood stage) entering the zone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154680" y="32918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3364992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9184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NO-SLIP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319272" y="3685032"/>
            <a:ext cx="2322576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Rough bark surface of Bambusa blumeana where water loses momentum on contact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035040" y="3291840"/>
            <a:ext cx="2651760" cy="1572768"/>
          </a:xfrm>
          <a:prstGeom prst="roundRect">
            <a:avLst>
              <a:gd name="adj" fmla="val 6977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3364992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7220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OUTFLOW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199632" y="3685032"/>
            <a:ext cx="2322576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Downstream zone where water behaves under reduced pressure constraints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Title"/>
          <p:cNvSpPr/>
          <p:nvPr/>
        </p:nvSpPr>
        <p:spPr>
          <a:xfrm>
            <a:off x="274320" y="1371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847"/>
                </a:solidFill>
                <a:latin typeface="Cambria" pitchFamily="34" charset="0"/>
              </a:rPr>
              <a:t>METHODOLOGY</a:t>
            </a:r>
            <a:endParaRPr lang="en-US" sz="2200" dirty="0"/>
          </a:p>
        </p:txBody>
      </p:sp>
      <p:sp>
        <p:nvSpPr>
          <p:cNvPr id="4" name="Text Subtitle"/>
          <p:cNvSpPr/>
          <p:nvPr/>
        </p:nvSpPr>
        <p:spPr>
          <a:xfrm>
            <a:off x="274320" y="475488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67E"/>
                </a:solidFill>
                <a:latin typeface="Cambria" pitchFamily="34" charset="0"/>
              </a:rPr>
              <a:t>Flow Velocity Visualization</a:t>
            </a:r>
            <a:endParaRPr lang="en-US" sz="1400" dirty="0"/>
          </a:p>
        </p:txBody>
      </p:sp>
      <p:sp>
        <p:nvSpPr>
          <p:cNvPr id="5" name="Shape Badge"/>
          <p:cNvSpPr/>
          <p:nvPr/>
        </p:nvSpPr>
        <p:spPr>
          <a:xfrm>
            <a:off x="274320" y="86868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</a:ln>
        </p:spPr>
      </p:sp>
      <p:sp>
        <p:nvSpPr>
          <p:cNvPr id="6" name="Text Badge"/>
          <p:cNvSpPr/>
          <p:nvPr/>
        </p:nvSpPr>
        <p:spPr>
          <a:xfrm>
            <a:off x="274320" y="8686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04b</a:t>
            </a:r>
            <a:endParaRPr lang="en-US" sz="900" dirty="0"/>
          </a:p>
        </p:txBody>
      </p:sp>
      <p:pic>
        <p:nvPicPr>
          <p:cNvPr id="7" name="Video 1">
            <a:hlinkClick r:id="" action="ppaction://media"/>
          </p:cNvPr>
          <p:cNvPicPr>
            <a:picLocks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457200" y="1200000"/>
            <a:ext cx="6400800" cy="3600000"/>
          </a:xfrm>
          <a:prstGeom prst="rect">
            <a:avLst/>
          </a:prstGeom>
        </p:spPr>
      </p:pic>
      <p:sp>
        <p:nvSpPr>
          <p:cNvPr id="8" name="Text Caption"/>
          <p:cNvSpPr/>
          <p:nvPr/>
        </p:nvSpPr>
        <p:spPr>
          <a:xfrm>
            <a:off x="457200" y="4870000"/>
            <a:ext cx="6400800" cy="2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C67E"/>
                </a:solidFill>
                <a:latin typeface="Calibri" pitchFamily="34" charset="0"/>
              </a:rPr>
              <a:t>Interactive simulation showing the chop-up effect, thalweg deflection, and wake zone formation through the bamboo barrier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132320" cy="658368"/>
          </a:xfrm>
          <a:prstGeom prst="roundRect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METHODOLOGY — DATA COLLECTION &amp; PROTOCOLS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182880" y="77724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7772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28600" y="1188720"/>
            <a:ext cx="33832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93192" y="1353312"/>
            <a:ext cx="502920" cy="502920"/>
          </a:xfrm>
          <a:prstGeom prst="lin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9903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8408" y="12984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Velocity Attenuation Profiles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978408" y="16459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Mechanical current meter deployed at 3 depths: surface, mid-column, and riverbed floor — capturing comprehensive bamboo disruption data across the entire water column.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749040" y="1188720"/>
            <a:ext cx="33832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913632" y="1353312"/>
            <a:ext cx="502920" cy="502920"/>
          </a:xfrm>
          <a:prstGeom prst="lin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352" y="1399032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98848" y="12984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Quantifying Sediment Accretion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498848" y="1645920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Erosion Pins (calibrated in mm) driven along the riverbank behind the barrier matrix — tracking soil loss vs. natural silt deposition in the calm wake zone.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28600" y="2907792"/>
            <a:ext cx="33832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393192" y="3072384"/>
            <a:ext cx="502920" cy="502920"/>
          </a:xfrm>
          <a:prstGeom prst="lin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18104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78408" y="30175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Replaceability &amp; Deployment Logs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978408" y="3364992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Manpower and exact time recorded to swap a damaged pole section — proving low-maintenance advantage over concrete alternatives.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3749040" y="2907792"/>
            <a:ext cx="3383280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913632" y="3072384"/>
            <a:ext cx="502920" cy="502920"/>
          </a:xfrm>
          <a:prstGeom prst="lin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352" y="3118104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498848" y="301752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Sensor Validation Protocols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498848" y="3364992"/>
            <a:ext cx="2514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Digital water level logs cross-checked against manual ruler readings every 30 minutes during active testing — targeting &gt;90% validation accuracy.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28800" y="137160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EXPECTED RESULTS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828800" y="52120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C67E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Structural Capabilities &amp; Anticipated Outputs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1828800" y="86868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0" y="8686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828800" y="1234440"/>
            <a:ext cx="2212848" cy="1691640"/>
          </a:xfrm>
          <a:prstGeom prst="roundRect">
            <a:avLst>
              <a:gd name="adj" fmla="val 6486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1298448"/>
            <a:ext cx="22128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~20 MPa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828800" y="192024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Compressive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920240" y="228600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Excellent resistance vs. hydrostatic flood pressures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24528" y="1234440"/>
            <a:ext cx="2212848" cy="1691640"/>
          </a:xfrm>
          <a:prstGeom prst="roundRect">
            <a:avLst>
              <a:gd name="adj" fmla="val 6486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24528" y="1298448"/>
            <a:ext cx="22128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~95 MPa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224528" y="192024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Tensile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15968" y="228600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Comparable to structural timber; withstands debris impacts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20256" y="1234440"/>
            <a:ext cx="2212848" cy="1691640"/>
          </a:xfrm>
          <a:prstGeom prst="roundRect">
            <a:avLst>
              <a:gd name="adj" fmla="val 6486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0256" y="1298448"/>
            <a:ext cx="221284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&gt;90%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6620256" y="192024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Sensor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Accuracy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11696" y="2286000"/>
            <a:ext cx="20299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Electronic validation vs. manual physical benchmarks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828800" y="3063240"/>
            <a:ext cx="7132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Anticipated Operational Outputs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828800" y="3410712"/>
            <a:ext cx="2212848" cy="1554480"/>
          </a:xfrm>
          <a:prstGeom prst="roundRect">
            <a:avLst>
              <a:gd name="adj" fmla="val 705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0" y="3456432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920240" y="3822192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Friction Effect Proven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920240" y="4114800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Measurable velocity reduction converts aggressive erosive currents into a protective 'Wake Zone' near the bank.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224528" y="3410712"/>
            <a:ext cx="2212848" cy="1554480"/>
          </a:xfrm>
          <a:prstGeom prst="roundRect">
            <a:avLst>
              <a:gd name="adj" fmla="val 705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24528" y="3456432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315968" y="3822192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Active Sediment Accretion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315968" y="4114800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Velocity drop causes suspended silt to precipitate, naturally rebuilding and stabilizing the riverbank toe.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620256" y="3410712"/>
            <a:ext cx="2212848" cy="1554480"/>
          </a:xfrm>
          <a:prstGeom prst="roundRect">
            <a:avLst>
              <a:gd name="adj" fmla="val 705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0256" y="3456432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711696" y="3822192"/>
            <a:ext cx="20299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Low-Cost Upkeep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711696" y="4114800"/>
            <a:ext cx="202996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Structural breaches fixable by a small team in minutes with hand tools — no heavy machinery or concrete required.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132320" cy="658368"/>
          </a:xfrm>
          <a:prstGeom prst="round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0"/>
            <a:ext cx="6400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DISCUSSION &amp; THEORETICAL SIGNIFICANCE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182880" y="77724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2880" y="7772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07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28600" y="1170432"/>
            <a:ext cx="3383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93192" y="1335024"/>
            <a:ext cx="1005840" cy="237744"/>
          </a:xfrm>
          <a:prstGeom prst="roundRect">
            <a:avLst>
              <a:gd name="adj" fmla="val 5769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13350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STRUCTURE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490472" y="131673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Salzer et al. (2018)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164592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Confirms Bambusa blumeana possesses excellent engineering properties rivaling conventional wood and timber in structural strength and resilience.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749040" y="1170432"/>
            <a:ext cx="3383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913632" y="1335024"/>
            <a:ext cx="1005840" cy="237744"/>
          </a:xfrm>
          <a:prstGeom prst="roundRect">
            <a:avLst>
              <a:gd name="adj" fmla="val 57692"/>
            </a:avLst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913632" y="13350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HYDRO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010912" y="1316736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Ali (2024)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31920" y="164592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Validates Bamboo Bandalling Techniques — permeable stalk configurations successfully reduce local fluid velocities, shift the thalweg, and initiate natural soil accretion.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28600" y="2834640"/>
            <a:ext cx="3383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93192" y="2999232"/>
            <a:ext cx="1005840" cy="237744"/>
          </a:xfrm>
          <a:prstGeom prst="roundRect">
            <a:avLst>
              <a:gd name="adj" fmla="val 5769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93192" y="29992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TELEMETRY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490472" y="298094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Magnaye et al. (2024)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11480" y="331012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Demonstrates ultrasonic sensor frameworks regularly achieve over 90% accuracy in volatile open-water environments — confirming our electronic design is highly viable.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749040" y="2834640"/>
            <a:ext cx="3383280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D8"/>
            </a:solidFill>
            <a:prstDash val="solid"/>
          </a:ln>
          <a:effectLst>
            <a:outerShdw blurRad="101600" dist="25400" dir="2700000" algn="bl" rotWithShape="0">
              <a:srgbClr val="1A3C2A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913632" y="2999232"/>
            <a:ext cx="1005840" cy="237744"/>
          </a:xfrm>
          <a:prstGeom prst="roundRect">
            <a:avLst>
              <a:gd name="adj" fmla="val 57692"/>
            </a:avLst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13632" y="299923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1A"/>
                </a:solidFill>
              </a:rPr>
              <a:t>POLICY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010912" y="2980944"/>
            <a:ext cx="1965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1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DENR (2020)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931920" y="331012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C3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Department of Environment and Natural Resources explicitly supports Kawayan Tinik in native bio-engineering programs for riverbank stabilization.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1371600" y="164592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CONCLUSION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1371600" y="621792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C67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Nature-Positive Blueprint for Community Resilience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4023360" y="1005840"/>
            <a:ext cx="1097280" cy="256032"/>
          </a:xfrm>
          <a:prstGeom prst="roundRect">
            <a:avLst>
              <a:gd name="adj" fmla="val 53571"/>
            </a:avLst>
          </a:prstGeom>
          <a:solidFill>
            <a:srgbClr val="4A8C4A"/>
          </a:solidFill>
          <a:ln w="12700">
            <a:solidFill>
              <a:srgbClr val="4A8C4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23360" y="100584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08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828800" y="13716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65960" y="1572768"/>
            <a:ext cx="502920" cy="502920"/>
          </a:xfrm>
          <a:prstGeom prst="lin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1848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06040" y="146304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Eco-Friendly Strength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606040" y="176479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Bambusa blumeana provides an incredibly strong, low-cost, and carbon-sequestering alternative to carbon-heavy concrete infrastructure — with compressive strength of ~20 MPa and tensile strength of ~95 MPa.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1828800" y="246888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965960" y="2670048"/>
            <a:ext cx="502920" cy="502920"/>
          </a:xfrm>
          <a:prstGeom prst="line">
            <a:avLst/>
          </a:prstGeom>
          <a:solidFill>
            <a:srgbClr val="4A90A4"/>
          </a:solidFill>
          <a:ln w="12700">
            <a:solidFill>
              <a:srgbClr val="4A90A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715768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06040" y="256032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Practical Modular Advantage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2606040" y="286207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By shifting focus from 'portability' to 'rapid modular replaceability,' the project directly answers real-world community issues — enabling localized defenses to be permanently established and effortlessly maintained by rural residents.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1828800" y="356616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A3C2A"/>
          </a:solidFill>
          <a:ln w="12700">
            <a:solidFill>
              <a:srgbClr val="E0E8D8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965960" y="3767328"/>
            <a:ext cx="502920" cy="502920"/>
          </a:xfrm>
          <a:prstGeom prst="line">
            <a:avLst/>
          </a:prstGeom>
          <a:solidFill>
            <a:srgbClr val="D4A847"/>
          </a:solidFill>
          <a:ln w="12700">
            <a:solidFill>
              <a:srgbClr val="D4A847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813048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606040" y="3657600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7"/>
                </a:solidFill>
                <a:latin typeface="Cambria" pitchFamily="34" charset="0"/>
                <a:ea typeface="Cambria" pitchFamily="34" charset="0"/>
                <a:cs typeface="Cambria" pitchFamily="34" charset="0"/>
              </a:rPr>
              <a:t>Scalable Community Defense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2606040" y="3959352"/>
            <a:ext cx="4526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D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system can be quickly constructed, maintained, and repaired by local communities — offering an affordable, nature-aligned blueprint for climate resilience across riverside villages in the Philippines.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371600" y="4709160"/>
            <a:ext cx="64008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C67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🎍  Bislig City National High School  ·  Grade 9  ·  Disaster Mitigation Research  🎍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124</Paragraphs>
  <Slides>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SimSun</vt:lpstr>
      <vt:lpstr>Wingdings</vt:lpstr>
      <vt:lpstr>Cambria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Bamboo Flood Barrier — IMRAD</dc:title>
  <dc:creator>Bislig City National High School</dc:creator>
  <dc:subject>PptxGenJS Presentation</dc:subject>
  <cp:lastModifiedBy>iPad</cp:lastModifiedBy>
  <cp:revision>2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5749A7BAF2CBD8F179C2396A49B2971C_32</vt:lpwstr>
  </property>
  <property fmtid="{D5CDD505-2E9C-101B-9397-08002B2CF9AE}" pid="3" name="KSOProductBuildVer">
    <vt:lpwstr>3081-11.37.02</vt:lpwstr>
  </property>
</Properties>
</file>