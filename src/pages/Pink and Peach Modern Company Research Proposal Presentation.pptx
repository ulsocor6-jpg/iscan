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Cy Grotesk Key Bold" charset="1" panose="00000800000000000000"/>
      <p:regular r:id="rId21"/>
    </p:embeddedFont>
    <p:embeddedFont>
      <p:font typeface="Cy Grotesk Key" charset="1" panose="00000500000000000000"/>
      <p:regular r:id="rId22"/>
    </p:embeddedFont>
    <p:embeddedFont>
      <p:font typeface="Public Sans" charset="1" panose="00000000000000000000"/>
      <p:regular r:id="rId23"/>
    </p:embeddedFont>
    <p:embeddedFont>
      <p:font typeface="Public Sans 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F4"/>
        </a:solidFill>
      </p:bgPr>
    </p:bg>
    <p:spTree>
      <p:nvGrpSpPr>
        <p:cNvPr id="1" name=""/>
        <p:cNvGrpSpPr/>
        <p:nvPr/>
      </p:nvGrpSpPr>
      <p:grpSpPr>
        <a:xfrm>
          <a:off x="0" y="0"/>
          <a:ext cx="0" cy="0"/>
          <a:chOff x="0" y="0"/>
          <a:chExt cx="0" cy="0"/>
        </a:xfrm>
      </p:grpSpPr>
      <p:sp>
        <p:nvSpPr>
          <p:cNvPr name="Freeform 2" id="2"/>
          <p:cNvSpPr/>
          <p:nvPr/>
        </p:nvSpPr>
        <p:spPr>
          <a:xfrm flipH="false" flipV="false" rot="0">
            <a:off x="472969" y="1028700"/>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alphaModFix amt="69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585561" y="2362034"/>
            <a:ext cx="12234014" cy="4394835"/>
          </a:xfrm>
          <a:prstGeom prst="rect">
            <a:avLst/>
          </a:prstGeom>
        </p:spPr>
        <p:txBody>
          <a:bodyPr anchor="t" rtlCol="false" tIns="0" lIns="0" bIns="0" rIns="0">
            <a:spAutoFit/>
          </a:bodyPr>
          <a:lstStyle/>
          <a:p>
            <a:pPr algn="l" marL="0" indent="0" lvl="0">
              <a:lnSpc>
                <a:spcPts val="8609"/>
              </a:lnSpc>
            </a:pPr>
            <a:r>
              <a:rPr lang="en-US" b="true" sz="8199">
                <a:solidFill>
                  <a:srgbClr val="C32157"/>
                </a:solidFill>
                <a:latin typeface="Cy Grotesk Key Bold"/>
                <a:ea typeface="Cy Grotesk Key Bold"/>
                <a:cs typeface="Cy Grotesk Key Bold"/>
                <a:sym typeface="Cy Grotesk Key Bold"/>
              </a:rPr>
              <a:t>AeroDry UV: An Intelligent &amp; Sanitary Umbrella Storage for Schools</a:t>
            </a:r>
          </a:p>
        </p:txBody>
      </p:sp>
      <p:sp>
        <p:nvSpPr>
          <p:cNvPr name="TextBox 4" id="4"/>
          <p:cNvSpPr txBox="true"/>
          <p:nvPr/>
        </p:nvSpPr>
        <p:spPr>
          <a:xfrm rot="0">
            <a:off x="2585561" y="6770633"/>
            <a:ext cx="12234014" cy="537845"/>
          </a:xfrm>
          <a:prstGeom prst="rect">
            <a:avLst/>
          </a:prstGeom>
        </p:spPr>
        <p:txBody>
          <a:bodyPr anchor="t" rtlCol="false" tIns="0" lIns="0" bIns="0" rIns="0">
            <a:spAutoFit/>
          </a:bodyPr>
          <a:lstStyle/>
          <a:p>
            <a:pPr algn="l" marL="0" indent="0" lvl="0">
              <a:lnSpc>
                <a:spcPts val="4480"/>
              </a:lnSpc>
            </a:pPr>
            <a:r>
              <a:rPr lang="en-US" sz="3200">
                <a:solidFill>
                  <a:srgbClr val="2E312B"/>
                </a:solidFill>
                <a:latin typeface="Cy Grotesk Key"/>
                <a:ea typeface="Cy Grotesk Key"/>
                <a:cs typeface="Cy Grotesk Key"/>
                <a:sym typeface="Cy Grotesk Key"/>
              </a:rPr>
              <a:t>Grade 10- Ste (Einstein) </a:t>
            </a:r>
          </a:p>
        </p:txBody>
      </p:sp>
      <p:sp>
        <p:nvSpPr>
          <p:cNvPr name="TextBox 5" id="5"/>
          <p:cNvSpPr txBox="true"/>
          <p:nvPr/>
        </p:nvSpPr>
        <p:spPr>
          <a:xfrm rot="0">
            <a:off x="2585561" y="7489408"/>
            <a:ext cx="12234014" cy="540333"/>
          </a:xfrm>
          <a:prstGeom prst="rect">
            <a:avLst/>
          </a:prstGeom>
        </p:spPr>
        <p:txBody>
          <a:bodyPr anchor="t" rtlCol="false" tIns="0" lIns="0" bIns="0" rIns="0">
            <a:spAutoFit/>
          </a:bodyPr>
          <a:lstStyle/>
          <a:p>
            <a:pPr algn="l" marL="0" indent="0" lvl="0">
              <a:lnSpc>
                <a:spcPts val="4342"/>
              </a:lnSpc>
              <a:spcBef>
                <a:spcPct val="0"/>
              </a:spcBef>
            </a:pPr>
            <a:r>
              <a:rPr lang="en-US" sz="3102" spc="620">
                <a:solidFill>
                  <a:srgbClr val="2E312B"/>
                </a:solidFill>
                <a:latin typeface="Public Sans"/>
                <a:ea typeface="Public Sans"/>
                <a:cs typeface="Public Sans"/>
                <a:sym typeface="Public Sans"/>
              </a:rPr>
              <a:t>June 23, 2026</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631292" y="339090"/>
            <a:ext cx="13025415" cy="1236345"/>
          </a:xfrm>
          <a:prstGeom prst="rect">
            <a:avLst/>
          </a:prstGeom>
        </p:spPr>
        <p:txBody>
          <a:bodyPr anchor="t" rtlCol="false" tIns="0" lIns="0" bIns="0" rIns="0">
            <a:spAutoFit/>
          </a:bodyPr>
          <a:lstStyle/>
          <a:p>
            <a:pPr algn="ctr" marL="0" indent="0" lvl="0">
              <a:lnSpc>
                <a:spcPts val="10080"/>
              </a:lnSpc>
              <a:spcBef>
                <a:spcPct val="0"/>
              </a:spcBef>
            </a:pPr>
            <a:r>
              <a:rPr lang="en-US" b="true" sz="7200">
                <a:solidFill>
                  <a:srgbClr val="FF568E"/>
                </a:solidFill>
                <a:latin typeface="Public Sans Bold"/>
                <a:ea typeface="Public Sans Bold"/>
                <a:cs typeface="Public Sans Bold"/>
                <a:sym typeface="Public Sans Bold"/>
              </a:rPr>
              <a:t>Rationale </a:t>
            </a:r>
          </a:p>
        </p:txBody>
      </p:sp>
      <p:sp>
        <p:nvSpPr>
          <p:cNvPr name="TextBox 3" id="3"/>
          <p:cNvSpPr txBox="true"/>
          <p:nvPr/>
        </p:nvSpPr>
        <p:spPr>
          <a:xfrm rot="0">
            <a:off x="747755" y="1835150"/>
            <a:ext cx="16792490" cy="7753985"/>
          </a:xfrm>
          <a:prstGeom prst="rect">
            <a:avLst/>
          </a:prstGeom>
        </p:spPr>
        <p:txBody>
          <a:bodyPr anchor="t" rtlCol="false" tIns="0" lIns="0" bIns="0" rIns="0">
            <a:spAutoFit/>
          </a:bodyPr>
          <a:lstStyle/>
          <a:p>
            <a:pPr algn="just" marL="0" indent="0" lvl="0">
              <a:lnSpc>
                <a:spcPts val="6879"/>
              </a:lnSpc>
            </a:pPr>
            <a:r>
              <a:rPr lang="en-US" sz="4299">
                <a:solidFill>
                  <a:srgbClr val="2E312B"/>
                </a:solidFill>
                <a:latin typeface="Public Sans"/>
                <a:ea typeface="Public Sans"/>
                <a:cs typeface="Public Sans"/>
                <a:sym typeface="Public Sans"/>
              </a:rPr>
              <a:t>Wet umbrellas in schools cause a bunch of problems: messy, slippery floors that are a safety hazard, annoying clutter in hallways, and even worse, they can lead to mold, mildew, and spread germs from outside. When umbrellas stay damp, they get stinky, the fabric can get damaged, and they become a perfect spot for bacteria and viruses. It creates a hygiene risk for everyone at school. Our school doesn't really have a good way to handle all these wet umbrellas, which makes things worse when it rains.</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631292" y="339090"/>
            <a:ext cx="13025415" cy="1236345"/>
          </a:xfrm>
          <a:prstGeom prst="rect">
            <a:avLst/>
          </a:prstGeom>
        </p:spPr>
        <p:txBody>
          <a:bodyPr anchor="t" rtlCol="false" tIns="0" lIns="0" bIns="0" rIns="0">
            <a:spAutoFit/>
          </a:bodyPr>
          <a:lstStyle/>
          <a:p>
            <a:pPr algn="ctr" marL="0" indent="0" lvl="0">
              <a:lnSpc>
                <a:spcPts val="10080"/>
              </a:lnSpc>
              <a:spcBef>
                <a:spcPct val="0"/>
              </a:spcBef>
            </a:pPr>
            <a:r>
              <a:rPr lang="en-US" b="true" sz="7200">
                <a:solidFill>
                  <a:srgbClr val="FF568E"/>
                </a:solidFill>
                <a:latin typeface="Public Sans Bold"/>
                <a:ea typeface="Public Sans Bold"/>
                <a:cs typeface="Public Sans Bold"/>
                <a:sym typeface="Public Sans Bold"/>
              </a:rPr>
              <a:t>Rationale </a:t>
            </a:r>
          </a:p>
        </p:txBody>
      </p:sp>
      <p:sp>
        <p:nvSpPr>
          <p:cNvPr name="TextBox 3" id="3"/>
          <p:cNvSpPr txBox="true"/>
          <p:nvPr/>
        </p:nvSpPr>
        <p:spPr>
          <a:xfrm rot="0">
            <a:off x="747755" y="1835150"/>
            <a:ext cx="16792490" cy="7753985"/>
          </a:xfrm>
          <a:prstGeom prst="rect">
            <a:avLst/>
          </a:prstGeom>
        </p:spPr>
        <p:txBody>
          <a:bodyPr anchor="t" rtlCol="false" tIns="0" lIns="0" bIns="0" rIns="0">
            <a:spAutoFit/>
          </a:bodyPr>
          <a:lstStyle/>
          <a:p>
            <a:pPr algn="just" marL="0" indent="0" lvl="0">
              <a:lnSpc>
                <a:spcPts val="6879"/>
              </a:lnSpc>
            </a:pPr>
            <a:r>
              <a:rPr lang="en-US" sz="4299">
                <a:solidFill>
                  <a:srgbClr val="2E312B"/>
                </a:solidFill>
                <a:latin typeface="Public Sans"/>
                <a:ea typeface="Public Sans"/>
                <a:cs typeface="Public Sans"/>
                <a:sym typeface="Public Sans"/>
              </a:rPr>
              <a:t>This project is all about fixing those issues. Our AeroDry UV Machine is not just a drying system, it's an intelligent solution that combines efficient, demand-activated drying with UV-C light to sanitize umbrellas. This means we'll not only dry them quickly and stop mold, but also kill harmful germs. It'll make our school cleaner, safer, and help extend the life of umbrellas. Plus, it's super smart about saving energy and reduces the need for those wasteful plastic umbrella bags. It's about making our school a healthier, more organized place for everyone.</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030236" y="408527"/>
            <a:ext cx="11492199" cy="9520195"/>
            <a:chOff x="0" y="0"/>
            <a:chExt cx="3026752" cy="2507377"/>
          </a:xfrm>
        </p:grpSpPr>
        <p:sp>
          <p:nvSpPr>
            <p:cNvPr name="Freeform 3" id="3"/>
            <p:cNvSpPr/>
            <p:nvPr/>
          </p:nvSpPr>
          <p:spPr>
            <a:xfrm flipH="false" flipV="false" rot="0">
              <a:off x="0" y="0"/>
              <a:ext cx="3026752" cy="2507377"/>
            </a:xfrm>
            <a:custGeom>
              <a:avLst/>
              <a:gdLst/>
              <a:ahLst/>
              <a:cxnLst/>
              <a:rect r="r" b="b" t="t" l="l"/>
              <a:pathLst>
                <a:path h="2507377" w="3026752">
                  <a:moveTo>
                    <a:pt x="43788" y="0"/>
                  </a:moveTo>
                  <a:lnTo>
                    <a:pt x="2982964" y="0"/>
                  </a:lnTo>
                  <a:cubicBezTo>
                    <a:pt x="3007147" y="0"/>
                    <a:pt x="3026752" y="19605"/>
                    <a:pt x="3026752" y="43788"/>
                  </a:cubicBezTo>
                  <a:lnTo>
                    <a:pt x="3026752" y="2463588"/>
                  </a:lnTo>
                  <a:cubicBezTo>
                    <a:pt x="3026752" y="2475202"/>
                    <a:pt x="3022139" y="2486339"/>
                    <a:pt x="3013927" y="2494551"/>
                  </a:cubicBezTo>
                  <a:cubicBezTo>
                    <a:pt x="3005715" y="2502763"/>
                    <a:pt x="2994577" y="2507377"/>
                    <a:pt x="2982964" y="2507377"/>
                  </a:cubicBezTo>
                  <a:lnTo>
                    <a:pt x="43788" y="2507377"/>
                  </a:lnTo>
                  <a:cubicBezTo>
                    <a:pt x="19605" y="2507377"/>
                    <a:pt x="0" y="2487772"/>
                    <a:pt x="0" y="2463588"/>
                  </a:cubicBezTo>
                  <a:lnTo>
                    <a:pt x="0" y="43788"/>
                  </a:lnTo>
                  <a:cubicBezTo>
                    <a:pt x="0" y="32175"/>
                    <a:pt x="4613" y="21037"/>
                    <a:pt x="12825" y="12825"/>
                  </a:cubicBezTo>
                  <a:cubicBezTo>
                    <a:pt x="21037" y="4613"/>
                    <a:pt x="32175" y="0"/>
                    <a:pt x="43788" y="0"/>
                  </a:cubicBezTo>
                  <a:close/>
                </a:path>
              </a:pathLst>
            </a:custGeom>
            <a:solidFill>
              <a:srgbClr val="FF568E"/>
            </a:solidFill>
          </p:spPr>
        </p:sp>
        <p:sp>
          <p:nvSpPr>
            <p:cNvPr name="TextBox 4" id="4"/>
            <p:cNvSpPr txBox="true"/>
            <p:nvPr/>
          </p:nvSpPr>
          <p:spPr>
            <a:xfrm>
              <a:off x="0" y="-38100"/>
              <a:ext cx="3026752" cy="2545477"/>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7487570" y="4130153"/>
            <a:ext cx="9771730" cy="0"/>
          </a:xfrm>
          <a:prstGeom prst="line">
            <a:avLst/>
          </a:prstGeom>
          <a:ln cap="flat" w="19050">
            <a:solidFill>
              <a:srgbClr val="F5F5F4"/>
            </a:solidFill>
            <a:prstDash val="solid"/>
            <a:headEnd type="none" len="sm" w="sm"/>
            <a:tailEnd type="none" len="sm" w="sm"/>
          </a:ln>
        </p:spPr>
      </p:sp>
      <p:sp>
        <p:nvSpPr>
          <p:cNvPr name="AutoShape 6" id="6"/>
          <p:cNvSpPr/>
          <p:nvPr/>
        </p:nvSpPr>
        <p:spPr>
          <a:xfrm>
            <a:off x="7629606" y="7106081"/>
            <a:ext cx="9771730" cy="0"/>
          </a:xfrm>
          <a:prstGeom prst="line">
            <a:avLst/>
          </a:prstGeom>
          <a:ln cap="flat" w="19050">
            <a:solidFill>
              <a:srgbClr val="F5F5F4"/>
            </a:solidFill>
            <a:prstDash val="solid"/>
            <a:headEnd type="none" len="sm" w="sm"/>
            <a:tailEnd type="none" len="sm" w="sm"/>
          </a:ln>
        </p:spPr>
      </p:sp>
      <p:sp>
        <p:nvSpPr>
          <p:cNvPr name="TextBox 7" id="7"/>
          <p:cNvSpPr txBox="true"/>
          <p:nvPr/>
        </p:nvSpPr>
        <p:spPr>
          <a:xfrm rot="0">
            <a:off x="1028700" y="3103041"/>
            <a:ext cx="8115300" cy="2512695"/>
          </a:xfrm>
          <a:prstGeom prst="rect">
            <a:avLst/>
          </a:prstGeom>
        </p:spPr>
        <p:txBody>
          <a:bodyPr anchor="t" rtlCol="false" tIns="0" lIns="0" bIns="0" rIns="0">
            <a:spAutoFit/>
          </a:bodyPr>
          <a:lstStyle/>
          <a:p>
            <a:pPr algn="l">
              <a:lnSpc>
                <a:spcPts val="10080"/>
              </a:lnSpc>
            </a:pPr>
            <a:r>
              <a:rPr lang="en-US" sz="7200" b="true">
                <a:solidFill>
                  <a:srgbClr val="C32157"/>
                </a:solidFill>
                <a:latin typeface="Public Sans Bold"/>
                <a:ea typeface="Public Sans Bold"/>
                <a:cs typeface="Public Sans Bold"/>
                <a:sym typeface="Public Sans Bold"/>
              </a:rPr>
              <a:t>Research </a:t>
            </a:r>
          </a:p>
          <a:p>
            <a:pPr algn="l" marL="0" indent="0" lvl="0">
              <a:lnSpc>
                <a:spcPts val="10080"/>
              </a:lnSpc>
              <a:spcBef>
                <a:spcPct val="0"/>
              </a:spcBef>
            </a:pPr>
            <a:r>
              <a:rPr lang="en-US" b="true" sz="7200">
                <a:solidFill>
                  <a:srgbClr val="C32157"/>
                </a:solidFill>
                <a:latin typeface="Public Sans Bold"/>
                <a:ea typeface="Public Sans Bold"/>
                <a:cs typeface="Public Sans Bold"/>
                <a:sym typeface="Public Sans Bold"/>
              </a:rPr>
              <a:t>Questions:</a:t>
            </a:r>
          </a:p>
        </p:txBody>
      </p:sp>
      <p:sp>
        <p:nvSpPr>
          <p:cNvPr name="TextBox 8" id="8"/>
          <p:cNvSpPr txBox="true"/>
          <p:nvPr/>
        </p:nvSpPr>
        <p:spPr>
          <a:xfrm rot="0">
            <a:off x="7629606" y="649401"/>
            <a:ext cx="10293459" cy="3209290"/>
          </a:xfrm>
          <a:prstGeom prst="rect">
            <a:avLst/>
          </a:prstGeom>
        </p:spPr>
        <p:txBody>
          <a:bodyPr anchor="t" rtlCol="false" tIns="0" lIns="0" bIns="0" rIns="0">
            <a:spAutoFit/>
          </a:bodyPr>
          <a:lstStyle/>
          <a:p>
            <a:pPr algn="l" marL="0" indent="0" lvl="0">
              <a:lnSpc>
                <a:spcPts val="5120"/>
              </a:lnSpc>
            </a:pPr>
            <a:r>
              <a:rPr lang="en-US" b="true" sz="3200">
                <a:solidFill>
                  <a:srgbClr val="FFFFFF"/>
                </a:solidFill>
                <a:latin typeface="Public Sans Bold"/>
                <a:ea typeface="Public Sans Bold"/>
                <a:cs typeface="Public Sans Bold"/>
                <a:sym typeface="Public Sans Bold"/>
              </a:rPr>
              <a:t>1. How do different design elements of the AeroDry UV Machine (like fan placement, compartment spacing, and materials) affect the drying speed and protection against mold and mildew of wet umbrellas?</a:t>
            </a:r>
          </a:p>
        </p:txBody>
      </p:sp>
      <p:sp>
        <p:nvSpPr>
          <p:cNvPr name="TextBox 9" id="9"/>
          <p:cNvSpPr txBox="true"/>
          <p:nvPr/>
        </p:nvSpPr>
        <p:spPr>
          <a:xfrm rot="0">
            <a:off x="7487570" y="4268266"/>
            <a:ext cx="10293459" cy="2561590"/>
          </a:xfrm>
          <a:prstGeom prst="rect">
            <a:avLst/>
          </a:prstGeom>
        </p:spPr>
        <p:txBody>
          <a:bodyPr anchor="t" rtlCol="false" tIns="0" lIns="0" bIns="0" rIns="0">
            <a:spAutoFit/>
          </a:bodyPr>
          <a:lstStyle/>
          <a:p>
            <a:pPr algn="l" marL="0" indent="0" lvl="0">
              <a:lnSpc>
                <a:spcPts val="5120"/>
              </a:lnSpc>
            </a:pPr>
            <a:r>
              <a:rPr lang="en-US" b="true" sz="3200">
                <a:solidFill>
                  <a:srgbClr val="FFFFFF"/>
                </a:solidFill>
                <a:latin typeface="Public Sans Bold"/>
                <a:ea typeface="Public Sans Bold"/>
                <a:cs typeface="Public Sans Bold"/>
                <a:sym typeface="Public Sans Bold"/>
              </a:rPr>
              <a:t>2. What is the performance of the AeroDry UV Machine in terms of drying efficiency, moisture reduction, and organizational effectiveness, as measured through practical tests and observations?</a:t>
            </a:r>
          </a:p>
        </p:txBody>
      </p:sp>
      <p:sp>
        <p:nvSpPr>
          <p:cNvPr name="TextBox 10" id="10"/>
          <p:cNvSpPr txBox="true"/>
          <p:nvPr/>
        </p:nvSpPr>
        <p:spPr>
          <a:xfrm rot="0">
            <a:off x="7487570" y="7239431"/>
            <a:ext cx="10293459" cy="2561590"/>
          </a:xfrm>
          <a:prstGeom prst="rect">
            <a:avLst/>
          </a:prstGeom>
        </p:spPr>
        <p:txBody>
          <a:bodyPr anchor="t" rtlCol="false" tIns="0" lIns="0" bIns="0" rIns="0">
            <a:spAutoFit/>
          </a:bodyPr>
          <a:lstStyle/>
          <a:p>
            <a:pPr algn="l" marL="0" indent="0" lvl="0">
              <a:lnSpc>
                <a:spcPts val="5120"/>
              </a:lnSpc>
            </a:pPr>
            <a:r>
              <a:rPr lang="en-US" b="true" sz="3200">
                <a:solidFill>
                  <a:srgbClr val="FFFFFF"/>
                </a:solidFill>
                <a:latin typeface="Public Sans Bold"/>
                <a:ea typeface="Public Sans Bold"/>
                <a:cs typeface="Public Sans Bold"/>
                <a:sym typeface="Public Sans Bold"/>
              </a:rPr>
              <a:t>3. Is there a significant relationship between specific design features of the AeroDry UV Machine and improvements in drying time, moisture control, and ease of use for students and staff?</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631292" y="339090"/>
            <a:ext cx="13025415" cy="1236345"/>
          </a:xfrm>
          <a:prstGeom prst="rect">
            <a:avLst/>
          </a:prstGeom>
        </p:spPr>
        <p:txBody>
          <a:bodyPr anchor="t" rtlCol="false" tIns="0" lIns="0" bIns="0" rIns="0">
            <a:spAutoFit/>
          </a:bodyPr>
          <a:lstStyle/>
          <a:p>
            <a:pPr algn="ctr" marL="0" indent="0" lvl="0">
              <a:lnSpc>
                <a:spcPts val="10080"/>
              </a:lnSpc>
              <a:spcBef>
                <a:spcPct val="0"/>
              </a:spcBef>
            </a:pPr>
            <a:r>
              <a:rPr lang="en-US" b="true" sz="7200">
                <a:solidFill>
                  <a:srgbClr val="FF568E"/>
                </a:solidFill>
                <a:latin typeface="Public Sans Bold"/>
                <a:ea typeface="Public Sans Bold"/>
                <a:cs typeface="Public Sans Bold"/>
                <a:sym typeface="Public Sans Bold"/>
              </a:rPr>
              <a:t>Research Design </a:t>
            </a:r>
          </a:p>
        </p:txBody>
      </p:sp>
      <p:sp>
        <p:nvSpPr>
          <p:cNvPr name="TextBox 3" id="3"/>
          <p:cNvSpPr txBox="true"/>
          <p:nvPr/>
        </p:nvSpPr>
        <p:spPr>
          <a:xfrm rot="0">
            <a:off x="747755" y="2790825"/>
            <a:ext cx="16792490" cy="4524375"/>
          </a:xfrm>
          <a:prstGeom prst="rect">
            <a:avLst/>
          </a:prstGeom>
        </p:spPr>
        <p:txBody>
          <a:bodyPr anchor="t" rtlCol="false" tIns="0" lIns="0" bIns="0" rIns="0">
            <a:spAutoFit/>
          </a:bodyPr>
          <a:lstStyle/>
          <a:p>
            <a:pPr algn="just" marL="0" indent="0" lvl="0">
              <a:lnSpc>
                <a:spcPts val="7200"/>
              </a:lnSpc>
            </a:pPr>
            <a:r>
              <a:rPr lang="en-US" sz="4500">
                <a:solidFill>
                  <a:srgbClr val="2E312B"/>
                </a:solidFill>
                <a:latin typeface="Public Sans"/>
                <a:ea typeface="Public Sans"/>
                <a:cs typeface="Public Sans"/>
                <a:sym typeface="Public Sans"/>
              </a:rPr>
              <a:t>The study uses an Experimental Research Design. The researchers will construct the AeroDry UV Machine and manipulate independent variables-specifically fan duration and UV-C intensity to measure their effects on dependent variables like drying speed and microbial reduction.</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631292" y="339090"/>
            <a:ext cx="13025415" cy="1236345"/>
          </a:xfrm>
          <a:prstGeom prst="rect">
            <a:avLst/>
          </a:prstGeom>
        </p:spPr>
        <p:txBody>
          <a:bodyPr anchor="t" rtlCol="false" tIns="0" lIns="0" bIns="0" rIns="0">
            <a:spAutoFit/>
          </a:bodyPr>
          <a:lstStyle/>
          <a:p>
            <a:pPr algn="ctr" marL="0" indent="0" lvl="0">
              <a:lnSpc>
                <a:spcPts val="10080"/>
              </a:lnSpc>
              <a:spcBef>
                <a:spcPct val="0"/>
              </a:spcBef>
            </a:pPr>
            <a:r>
              <a:rPr lang="en-US" b="true" sz="7200">
                <a:solidFill>
                  <a:srgbClr val="FF568E"/>
                </a:solidFill>
                <a:latin typeface="Public Sans Bold"/>
                <a:ea typeface="Public Sans Bold"/>
                <a:cs typeface="Public Sans Bold"/>
                <a:sym typeface="Public Sans Bold"/>
              </a:rPr>
              <a:t>Procedure </a:t>
            </a:r>
          </a:p>
        </p:txBody>
      </p:sp>
      <p:sp>
        <p:nvSpPr>
          <p:cNvPr name="TextBox 3" id="3"/>
          <p:cNvSpPr txBox="true"/>
          <p:nvPr/>
        </p:nvSpPr>
        <p:spPr>
          <a:xfrm rot="0">
            <a:off x="747755" y="2790825"/>
            <a:ext cx="16792490" cy="4524375"/>
          </a:xfrm>
          <a:prstGeom prst="rect">
            <a:avLst/>
          </a:prstGeom>
        </p:spPr>
        <p:txBody>
          <a:bodyPr anchor="t" rtlCol="false" tIns="0" lIns="0" bIns="0" rIns="0">
            <a:spAutoFit/>
          </a:bodyPr>
          <a:lstStyle/>
          <a:p>
            <a:pPr algn="just" marL="0" indent="0" lvl="0">
              <a:lnSpc>
                <a:spcPts val="7200"/>
              </a:lnSpc>
            </a:pPr>
            <a:r>
              <a:rPr lang="en-US" sz="4500">
                <a:solidFill>
                  <a:srgbClr val="2E312B"/>
                </a:solidFill>
                <a:latin typeface="Public Sans"/>
                <a:ea typeface="Public Sans"/>
                <a:cs typeface="Public Sans"/>
                <a:sym typeface="Public Sans"/>
              </a:rPr>
              <a:t>Data will be collected by weighing umbrellas to quantify water loss, monitoring real-time humidity levels via the Arduino system, and using ATP swabs to test for bacterial presence. User experience will be gathered through surveys and a built-in usage counter.</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030236" y="408527"/>
            <a:ext cx="11492199" cy="9520195"/>
            <a:chOff x="0" y="0"/>
            <a:chExt cx="3026752" cy="2507377"/>
          </a:xfrm>
        </p:grpSpPr>
        <p:sp>
          <p:nvSpPr>
            <p:cNvPr name="Freeform 3" id="3"/>
            <p:cNvSpPr/>
            <p:nvPr/>
          </p:nvSpPr>
          <p:spPr>
            <a:xfrm flipH="false" flipV="false" rot="0">
              <a:off x="0" y="0"/>
              <a:ext cx="3026752" cy="2507377"/>
            </a:xfrm>
            <a:custGeom>
              <a:avLst/>
              <a:gdLst/>
              <a:ahLst/>
              <a:cxnLst/>
              <a:rect r="r" b="b" t="t" l="l"/>
              <a:pathLst>
                <a:path h="2507377" w="3026752">
                  <a:moveTo>
                    <a:pt x="43788" y="0"/>
                  </a:moveTo>
                  <a:lnTo>
                    <a:pt x="2982964" y="0"/>
                  </a:lnTo>
                  <a:cubicBezTo>
                    <a:pt x="3007147" y="0"/>
                    <a:pt x="3026752" y="19605"/>
                    <a:pt x="3026752" y="43788"/>
                  </a:cubicBezTo>
                  <a:lnTo>
                    <a:pt x="3026752" y="2463588"/>
                  </a:lnTo>
                  <a:cubicBezTo>
                    <a:pt x="3026752" y="2475202"/>
                    <a:pt x="3022139" y="2486339"/>
                    <a:pt x="3013927" y="2494551"/>
                  </a:cubicBezTo>
                  <a:cubicBezTo>
                    <a:pt x="3005715" y="2502763"/>
                    <a:pt x="2994577" y="2507377"/>
                    <a:pt x="2982964" y="2507377"/>
                  </a:cubicBezTo>
                  <a:lnTo>
                    <a:pt x="43788" y="2507377"/>
                  </a:lnTo>
                  <a:cubicBezTo>
                    <a:pt x="19605" y="2507377"/>
                    <a:pt x="0" y="2487772"/>
                    <a:pt x="0" y="2463588"/>
                  </a:cubicBezTo>
                  <a:lnTo>
                    <a:pt x="0" y="43788"/>
                  </a:lnTo>
                  <a:cubicBezTo>
                    <a:pt x="0" y="32175"/>
                    <a:pt x="4613" y="21037"/>
                    <a:pt x="12825" y="12825"/>
                  </a:cubicBezTo>
                  <a:cubicBezTo>
                    <a:pt x="21037" y="4613"/>
                    <a:pt x="32175" y="0"/>
                    <a:pt x="43788" y="0"/>
                  </a:cubicBezTo>
                  <a:close/>
                </a:path>
              </a:pathLst>
            </a:custGeom>
            <a:solidFill>
              <a:srgbClr val="FF568E"/>
            </a:solidFill>
          </p:spPr>
        </p:sp>
        <p:sp>
          <p:nvSpPr>
            <p:cNvPr name="TextBox 4" id="4"/>
            <p:cNvSpPr txBox="true"/>
            <p:nvPr/>
          </p:nvSpPr>
          <p:spPr>
            <a:xfrm>
              <a:off x="0" y="-38100"/>
              <a:ext cx="3026752" cy="2545477"/>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7487570" y="3649141"/>
            <a:ext cx="9771730" cy="0"/>
          </a:xfrm>
          <a:prstGeom prst="line">
            <a:avLst/>
          </a:prstGeom>
          <a:ln cap="flat" w="19050">
            <a:solidFill>
              <a:srgbClr val="F5F5F4"/>
            </a:solidFill>
            <a:prstDash val="solid"/>
            <a:headEnd type="none" len="sm" w="sm"/>
            <a:tailEnd type="none" len="sm" w="sm"/>
          </a:ln>
        </p:spPr>
      </p:sp>
      <p:sp>
        <p:nvSpPr>
          <p:cNvPr name="AutoShape 6" id="6"/>
          <p:cNvSpPr/>
          <p:nvPr/>
        </p:nvSpPr>
        <p:spPr>
          <a:xfrm flipV="true">
            <a:off x="7487570" y="6931615"/>
            <a:ext cx="9771730" cy="0"/>
          </a:xfrm>
          <a:prstGeom prst="line">
            <a:avLst/>
          </a:prstGeom>
          <a:ln cap="flat" w="19050">
            <a:solidFill>
              <a:srgbClr val="F5F5F4"/>
            </a:solidFill>
            <a:prstDash val="solid"/>
            <a:headEnd type="none" len="sm" w="sm"/>
            <a:tailEnd type="none" len="sm" w="sm"/>
          </a:ln>
        </p:spPr>
      </p:sp>
      <p:sp>
        <p:nvSpPr>
          <p:cNvPr name="TextBox 7" id="7"/>
          <p:cNvSpPr txBox="true"/>
          <p:nvPr/>
        </p:nvSpPr>
        <p:spPr>
          <a:xfrm rot="0">
            <a:off x="1028700" y="2180632"/>
            <a:ext cx="5314435" cy="5833110"/>
          </a:xfrm>
          <a:prstGeom prst="rect">
            <a:avLst/>
          </a:prstGeom>
        </p:spPr>
        <p:txBody>
          <a:bodyPr anchor="t" rtlCol="false" tIns="0" lIns="0" bIns="0" rIns="0">
            <a:spAutoFit/>
          </a:bodyPr>
          <a:lstStyle/>
          <a:p>
            <a:pPr algn="l" marL="0" indent="0" lvl="0">
              <a:lnSpc>
                <a:spcPts val="9240"/>
              </a:lnSpc>
              <a:spcBef>
                <a:spcPct val="0"/>
              </a:spcBef>
            </a:pPr>
            <a:r>
              <a:rPr lang="en-US" b="true" sz="6600">
                <a:solidFill>
                  <a:srgbClr val="C32157"/>
                </a:solidFill>
                <a:latin typeface="Public Sans Bold"/>
                <a:ea typeface="Public Sans Bold"/>
                <a:cs typeface="Public Sans Bold"/>
                <a:sym typeface="Public Sans Bold"/>
              </a:rPr>
              <a:t>We will collect data using the following methods:</a:t>
            </a:r>
          </a:p>
        </p:txBody>
      </p:sp>
      <p:sp>
        <p:nvSpPr>
          <p:cNvPr name="TextBox 8" id="8"/>
          <p:cNvSpPr txBox="true"/>
          <p:nvPr/>
        </p:nvSpPr>
        <p:spPr>
          <a:xfrm rot="0">
            <a:off x="7629606" y="620826"/>
            <a:ext cx="10293459" cy="2387600"/>
          </a:xfrm>
          <a:prstGeom prst="rect">
            <a:avLst/>
          </a:prstGeom>
        </p:spPr>
        <p:txBody>
          <a:bodyPr anchor="t" rtlCol="false" tIns="0" lIns="0" bIns="0" rIns="0">
            <a:spAutoFit/>
          </a:bodyPr>
          <a:lstStyle/>
          <a:p>
            <a:pPr algn="l" marL="0" indent="0" lvl="0">
              <a:lnSpc>
                <a:spcPts val="6399"/>
              </a:lnSpc>
            </a:pPr>
            <a:r>
              <a:rPr lang="en-US" b="true" sz="3999">
                <a:solidFill>
                  <a:srgbClr val="FFFFFF"/>
                </a:solidFill>
                <a:latin typeface="Public Sans Bold"/>
                <a:ea typeface="Public Sans Bold"/>
                <a:cs typeface="Public Sans Bold"/>
                <a:sym typeface="Public Sans Bold"/>
              </a:rPr>
              <a:t>•Umbrella dryness will be quantified by measuring the umbrella's weight before and immediately after drying cycles.</a:t>
            </a:r>
          </a:p>
        </p:txBody>
      </p:sp>
      <p:sp>
        <p:nvSpPr>
          <p:cNvPr name="TextBox 9" id="9"/>
          <p:cNvSpPr txBox="true"/>
          <p:nvPr/>
        </p:nvSpPr>
        <p:spPr>
          <a:xfrm rot="0">
            <a:off x="7487570" y="4102848"/>
            <a:ext cx="10293459" cy="2387600"/>
          </a:xfrm>
          <a:prstGeom prst="rect">
            <a:avLst/>
          </a:prstGeom>
        </p:spPr>
        <p:txBody>
          <a:bodyPr anchor="t" rtlCol="false" tIns="0" lIns="0" bIns="0" rIns="0">
            <a:spAutoFit/>
          </a:bodyPr>
          <a:lstStyle/>
          <a:p>
            <a:pPr algn="l" marL="0" indent="0" lvl="0">
              <a:lnSpc>
                <a:spcPts val="6399"/>
              </a:lnSpc>
            </a:pPr>
            <a:r>
              <a:rPr lang="en-US" b="true" sz="3999">
                <a:solidFill>
                  <a:srgbClr val="FFFFFF"/>
                </a:solidFill>
                <a:latin typeface="Public Sans Bold"/>
                <a:ea typeface="Public Sans Bold"/>
                <a:cs typeface="Public Sans Bold"/>
                <a:sym typeface="Public Sans Bold"/>
              </a:rPr>
              <a:t>•Moisture sensors inside the compartments will track humidity levels over time to assess drying progression.</a:t>
            </a:r>
          </a:p>
        </p:txBody>
      </p:sp>
      <p:sp>
        <p:nvSpPr>
          <p:cNvPr name="TextBox 10" id="10"/>
          <p:cNvSpPr txBox="true"/>
          <p:nvPr/>
        </p:nvSpPr>
        <p:spPr>
          <a:xfrm rot="0">
            <a:off x="7487570" y="7210856"/>
            <a:ext cx="10293459" cy="2387600"/>
          </a:xfrm>
          <a:prstGeom prst="rect">
            <a:avLst/>
          </a:prstGeom>
        </p:spPr>
        <p:txBody>
          <a:bodyPr anchor="t" rtlCol="false" tIns="0" lIns="0" bIns="0" rIns="0">
            <a:spAutoFit/>
          </a:bodyPr>
          <a:lstStyle/>
          <a:p>
            <a:pPr algn="l" marL="0" indent="0" lvl="0">
              <a:lnSpc>
                <a:spcPts val="6399"/>
              </a:lnSpc>
            </a:pPr>
            <a:r>
              <a:rPr lang="en-US" b="true" sz="3999">
                <a:solidFill>
                  <a:srgbClr val="FFFFFF"/>
                </a:solidFill>
                <a:latin typeface="Public Sans Bold"/>
                <a:ea typeface="Public Sans Bold"/>
                <a:cs typeface="Public Sans Bold"/>
                <a:sym typeface="Public Sans Bold"/>
              </a:rPr>
              <a:t>•Tests will include various umbrella types and different initial wetness levels to simulate real-world conditions.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030236" y="408527"/>
            <a:ext cx="11492199" cy="9520195"/>
            <a:chOff x="0" y="0"/>
            <a:chExt cx="3026752" cy="2507377"/>
          </a:xfrm>
        </p:grpSpPr>
        <p:sp>
          <p:nvSpPr>
            <p:cNvPr name="Freeform 3" id="3"/>
            <p:cNvSpPr/>
            <p:nvPr/>
          </p:nvSpPr>
          <p:spPr>
            <a:xfrm flipH="false" flipV="false" rot="0">
              <a:off x="0" y="0"/>
              <a:ext cx="3026752" cy="2507377"/>
            </a:xfrm>
            <a:custGeom>
              <a:avLst/>
              <a:gdLst/>
              <a:ahLst/>
              <a:cxnLst/>
              <a:rect r="r" b="b" t="t" l="l"/>
              <a:pathLst>
                <a:path h="2507377" w="3026752">
                  <a:moveTo>
                    <a:pt x="43788" y="0"/>
                  </a:moveTo>
                  <a:lnTo>
                    <a:pt x="2982964" y="0"/>
                  </a:lnTo>
                  <a:cubicBezTo>
                    <a:pt x="3007147" y="0"/>
                    <a:pt x="3026752" y="19605"/>
                    <a:pt x="3026752" y="43788"/>
                  </a:cubicBezTo>
                  <a:lnTo>
                    <a:pt x="3026752" y="2463588"/>
                  </a:lnTo>
                  <a:cubicBezTo>
                    <a:pt x="3026752" y="2475202"/>
                    <a:pt x="3022139" y="2486339"/>
                    <a:pt x="3013927" y="2494551"/>
                  </a:cubicBezTo>
                  <a:cubicBezTo>
                    <a:pt x="3005715" y="2502763"/>
                    <a:pt x="2994577" y="2507377"/>
                    <a:pt x="2982964" y="2507377"/>
                  </a:cubicBezTo>
                  <a:lnTo>
                    <a:pt x="43788" y="2507377"/>
                  </a:lnTo>
                  <a:cubicBezTo>
                    <a:pt x="19605" y="2507377"/>
                    <a:pt x="0" y="2487772"/>
                    <a:pt x="0" y="2463588"/>
                  </a:cubicBezTo>
                  <a:lnTo>
                    <a:pt x="0" y="43788"/>
                  </a:lnTo>
                  <a:cubicBezTo>
                    <a:pt x="0" y="32175"/>
                    <a:pt x="4613" y="21037"/>
                    <a:pt x="12825" y="12825"/>
                  </a:cubicBezTo>
                  <a:cubicBezTo>
                    <a:pt x="21037" y="4613"/>
                    <a:pt x="32175" y="0"/>
                    <a:pt x="43788" y="0"/>
                  </a:cubicBezTo>
                  <a:close/>
                </a:path>
              </a:pathLst>
            </a:custGeom>
            <a:solidFill>
              <a:srgbClr val="FF568E"/>
            </a:solidFill>
          </p:spPr>
        </p:sp>
        <p:sp>
          <p:nvSpPr>
            <p:cNvPr name="TextBox 4" id="4"/>
            <p:cNvSpPr txBox="true"/>
            <p:nvPr/>
          </p:nvSpPr>
          <p:spPr>
            <a:xfrm>
              <a:off x="0" y="-38100"/>
              <a:ext cx="3026752" cy="2545477"/>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7487570" y="5178149"/>
            <a:ext cx="9771730" cy="0"/>
          </a:xfrm>
          <a:prstGeom prst="line">
            <a:avLst/>
          </a:prstGeom>
          <a:ln cap="flat" w="19050">
            <a:solidFill>
              <a:srgbClr val="F5F5F4"/>
            </a:solidFill>
            <a:prstDash val="solid"/>
            <a:headEnd type="none" len="sm" w="sm"/>
            <a:tailEnd type="none" len="sm" w="sm"/>
          </a:ln>
        </p:spPr>
      </p:sp>
      <p:sp>
        <p:nvSpPr>
          <p:cNvPr name="TextBox 6" id="6"/>
          <p:cNvSpPr txBox="true"/>
          <p:nvPr/>
        </p:nvSpPr>
        <p:spPr>
          <a:xfrm rot="0">
            <a:off x="1028700" y="2180632"/>
            <a:ext cx="5314435" cy="5833110"/>
          </a:xfrm>
          <a:prstGeom prst="rect">
            <a:avLst/>
          </a:prstGeom>
        </p:spPr>
        <p:txBody>
          <a:bodyPr anchor="t" rtlCol="false" tIns="0" lIns="0" bIns="0" rIns="0">
            <a:spAutoFit/>
          </a:bodyPr>
          <a:lstStyle/>
          <a:p>
            <a:pPr algn="l" marL="0" indent="0" lvl="0">
              <a:lnSpc>
                <a:spcPts val="9240"/>
              </a:lnSpc>
              <a:spcBef>
                <a:spcPct val="0"/>
              </a:spcBef>
            </a:pPr>
            <a:r>
              <a:rPr lang="en-US" b="true" sz="6600">
                <a:solidFill>
                  <a:srgbClr val="C32157"/>
                </a:solidFill>
                <a:latin typeface="Public Sans Bold"/>
                <a:ea typeface="Public Sans Bold"/>
                <a:cs typeface="Public Sans Bold"/>
                <a:sym typeface="Public Sans Bold"/>
              </a:rPr>
              <a:t>We will collect data using the following methods:</a:t>
            </a:r>
          </a:p>
        </p:txBody>
      </p:sp>
      <p:sp>
        <p:nvSpPr>
          <p:cNvPr name="TextBox 7" id="7"/>
          <p:cNvSpPr txBox="true"/>
          <p:nvPr/>
        </p:nvSpPr>
        <p:spPr>
          <a:xfrm rot="0">
            <a:off x="7629606" y="429214"/>
            <a:ext cx="10293459" cy="4422140"/>
          </a:xfrm>
          <a:prstGeom prst="rect">
            <a:avLst/>
          </a:prstGeom>
        </p:spPr>
        <p:txBody>
          <a:bodyPr anchor="t" rtlCol="false" tIns="0" lIns="0" bIns="0" rIns="0">
            <a:spAutoFit/>
          </a:bodyPr>
          <a:lstStyle/>
          <a:p>
            <a:pPr algn="l" marL="0" indent="0" lvl="0">
              <a:lnSpc>
                <a:spcPts val="5919"/>
              </a:lnSpc>
            </a:pPr>
            <a:r>
              <a:rPr lang="en-US" b="true" sz="3699">
                <a:solidFill>
                  <a:srgbClr val="FFFFFF"/>
                </a:solidFill>
                <a:latin typeface="Public Sans Bold"/>
                <a:ea typeface="Public Sans Bold"/>
                <a:cs typeface="Public Sans Bold"/>
                <a:sym typeface="Public Sans Bold"/>
              </a:rPr>
              <a:t>•A UV meter will measure the intensity and duration of UV-C light emitted, ensuring it meets target specifications. To assess microbial reduction, we will use ATP (Adenosine Triphosphate) swabs on umbrella surfaces before and after UV-C exposure.</a:t>
            </a:r>
          </a:p>
        </p:txBody>
      </p:sp>
      <p:sp>
        <p:nvSpPr>
          <p:cNvPr name="TextBox 8" id="8"/>
          <p:cNvSpPr txBox="true"/>
          <p:nvPr/>
        </p:nvSpPr>
        <p:spPr>
          <a:xfrm rot="0">
            <a:off x="7487570" y="5579110"/>
            <a:ext cx="10293459" cy="3679190"/>
          </a:xfrm>
          <a:prstGeom prst="rect">
            <a:avLst/>
          </a:prstGeom>
        </p:spPr>
        <p:txBody>
          <a:bodyPr anchor="t" rtlCol="false" tIns="0" lIns="0" bIns="0" rIns="0">
            <a:spAutoFit/>
          </a:bodyPr>
          <a:lstStyle/>
          <a:p>
            <a:pPr algn="l" marL="0" indent="0" lvl="0">
              <a:lnSpc>
                <a:spcPts val="5919"/>
              </a:lnSpc>
            </a:pPr>
            <a:r>
              <a:rPr lang="en-US" b="true" sz="3699">
                <a:solidFill>
                  <a:srgbClr val="FFFFFF"/>
                </a:solidFill>
                <a:latin typeface="Public Sans Bold"/>
                <a:ea typeface="Public Sans Bold"/>
                <a:cs typeface="Public Sans Bold"/>
                <a:sym typeface="Public Sans Bold"/>
              </a:rPr>
              <a:t>•High ATP levels indicate biological activity, so a significant reduction will show effectiveness. This will be done in school science facilities, pending permission and resources.</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030236" y="408527"/>
            <a:ext cx="11492199" cy="9520195"/>
            <a:chOff x="0" y="0"/>
            <a:chExt cx="3026752" cy="2507377"/>
          </a:xfrm>
        </p:grpSpPr>
        <p:sp>
          <p:nvSpPr>
            <p:cNvPr name="Freeform 3" id="3"/>
            <p:cNvSpPr/>
            <p:nvPr/>
          </p:nvSpPr>
          <p:spPr>
            <a:xfrm flipH="false" flipV="false" rot="0">
              <a:off x="0" y="0"/>
              <a:ext cx="3026752" cy="2507377"/>
            </a:xfrm>
            <a:custGeom>
              <a:avLst/>
              <a:gdLst/>
              <a:ahLst/>
              <a:cxnLst/>
              <a:rect r="r" b="b" t="t" l="l"/>
              <a:pathLst>
                <a:path h="2507377" w="3026752">
                  <a:moveTo>
                    <a:pt x="43788" y="0"/>
                  </a:moveTo>
                  <a:lnTo>
                    <a:pt x="2982964" y="0"/>
                  </a:lnTo>
                  <a:cubicBezTo>
                    <a:pt x="3007147" y="0"/>
                    <a:pt x="3026752" y="19605"/>
                    <a:pt x="3026752" y="43788"/>
                  </a:cubicBezTo>
                  <a:lnTo>
                    <a:pt x="3026752" y="2463588"/>
                  </a:lnTo>
                  <a:cubicBezTo>
                    <a:pt x="3026752" y="2475202"/>
                    <a:pt x="3022139" y="2486339"/>
                    <a:pt x="3013927" y="2494551"/>
                  </a:cubicBezTo>
                  <a:cubicBezTo>
                    <a:pt x="3005715" y="2502763"/>
                    <a:pt x="2994577" y="2507377"/>
                    <a:pt x="2982964" y="2507377"/>
                  </a:cubicBezTo>
                  <a:lnTo>
                    <a:pt x="43788" y="2507377"/>
                  </a:lnTo>
                  <a:cubicBezTo>
                    <a:pt x="19605" y="2507377"/>
                    <a:pt x="0" y="2487772"/>
                    <a:pt x="0" y="2463588"/>
                  </a:cubicBezTo>
                  <a:lnTo>
                    <a:pt x="0" y="43788"/>
                  </a:lnTo>
                  <a:cubicBezTo>
                    <a:pt x="0" y="32175"/>
                    <a:pt x="4613" y="21037"/>
                    <a:pt x="12825" y="12825"/>
                  </a:cubicBezTo>
                  <a:cubicBezTo>
                    <a:pt x="21037" y="4613"/>
                    <a:pt x="32175" y="0"/>
                    <a:pt x="43788" y="0"/>
                  </a:cubicBezTo>
                  <a:close/>
                </a:path>
              </a:pathLst>
            </a:custGeom>
            <a:solidFill>
              <a:srgbClr val="FF568E"/>
            </a:solidFill>
          </p:spPr>
        </p:sp>
        <p:sp>
          <p:nvSpPr>
            <p:cNvPr name="TextBox 4" id="4"/>
            <p:cNvSpPr txBox="true"/>
            <p:nvPr/>
          </p:nvSpPr>
          <p:spPr>
            <a:xfrm>
              <a:off x="0" y="-38100"/>
              <a:ext cx="3026752" cy="2545477"/>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7629606" y="3725727"/>
            <a:ext cx="9771730" cy="0"/>
          </a:xfrm>
          <a:prstGeom prst="line">
            <a:avLst/>
          </a:prstGeom>
          <a:ln cap="flat" w="19050">
            <a:solidFill>
              <a:srgbClr val="F5F5F4"/>
            </a:solidFill>
            <a:prstDash val="solid"/>
            <a:headEnd type="none" len="sm" w="sm"/>
            <a:tailEnd type="none" len="sm" w="sm"/>
          </a:ln>
        </p:spPr>
      </p:sp>
      <p:sp>
        <p:nvSpPr>
          <p:cNvPr name="TextBox 6" id="6"/>
          <p:cNvSpPr txBox="true"/>
          <p:nvPr/>
        </p:nvSpPr>
        <p:spPr>
          <a:xfrm rot="0">
            <a:off x="1028700" y="2180632"/>
            <a:ext cx="5314435" cy="5833110"/>
          </a:xfrm>
          <a:prstGeom prst="rect">
            <a:avLst/>
          </a:prstGeom>
        </p:spPr>
        <p:txBody>
          <a:bodyPr anchor="t" rtlCol="false" tIns="0" lIns="0" bIns="0" rIns="0">
            <a:spAutoFit/>
          </a:bodyPr>
          <a:lstStyle/>
          <a:p>
            <a:pPr algn="l" marL="0" indent="0" lvl="0">
              <a:lnSpc>
                <a:spcPts val="9240"/>
              </a:lnSpc>
              <a:spcBef>
                <a:spcPct val="0"/>
              </a:spcBef>
            </a:pPr>
            <a:r>
              <a:rPr lang="en-US" b="true" sz="6600">
                <a:solidFill>
                  <a:srgbClr val="C32157"/>
                </a:solidFill>
                <a:latin typeface="Public Sans Bold"/>
                <a:ea typeface="Public Sans Bold"/>
                <a:cs typeface="Public Sans Bold"/>
                <a:sym typeface="Public Sans Bold"/>
              </a:rPr>
              <a:t>We will collect data using the following methods:</a:t>
            </a:r>
          </a:p>
        </p:txBody>
      </p:sp>
      <p:sp>
        <p:nvSpPr>
          <p:cNvPr name="TextBox 7" id="7"/>
          <p:cNvSpPr txBox="true"/>
          <p:nvPr/>
        </p:nvSpPr>
        <p:spPr>
          <a:xfrm rot="0">
            <a:off x="7629606" y="438739"/>
            <a:ext cx="10293459" cy="2713355"/>
          </a:xfrm>
          <a:prstGeom prst="rect">
            <a:avLst/>
          </a:prstGeom>
        </p:spPr>
        <p:txBody>
          <a:bodyPr anchor="t" rtlCol="false" tIns="0" lIns="0" bIns="0" rIns="0">
            <a:spAutoFit/>
          </a:bodyPr>
          <a:lstStyle/>
          <a:p>
            <a:pPr algn="l" marL="0" indent="0" lvl="0">
              <a:lnSpc>
                <a:spcPts val="5439"/>
              </a:lnSpc>
            </a:pPr>
            <a:r>
              <a:rPr lang="en-US" b="true" sz="3399">
                <a:solidFill>
                  <a:srgbClr val="FFFFFF"/>
                </a:solidFill>
                <a:latin typeface="Public Sans Bold"/>
                <a:ea typeface="Public Sans Bold"/>
                <a:cs typeface="Public Sans Bold"/>
                <a:sym typeface="Public Sans Bold"/>
              </a:rPr>
              <a:t>•Observational studies will assess the flw and smoothness of student and staff interactions with the machine during umbrella storage and retrieval.</a:t>
            </a:r>
          </a:p>
        </p:txBody>
      </p:sp>
      <p:sp>
        <p:nvSpPr>
          <p:cNvPr name="TextBox 8" id="8"/>
          <p:cNvSpPr txBox="true"/>
          <p:nvPr/>
        </p:nvSpPr>
        <p:spPr>
          <a:xfrm rot="0">
            <a:off x="7629606" y="4022725"/>
            <a:ext cx="10293459" cy="2089150"/>
          </a:xfrm>
          <a:prstGeom prst="rect">
            <a:avLst/>
          </a:prstGeom>
        </p:spPr>
        <p:txBody>
          <a:bodyPr anchor="t" rtlCol="false" tIns="0" lIns="0" bIns="0" rIns="0">
            <a:spAutoFit/>
          </a:bodyPr>
          <a:lstStyle/>
          <a:p>
            <a:pPr algn="l" marL="0" indent="0" lvl="0">
              <a:lnSpc>
                <a:spcPts val="5600"/>
              </a:lnSpc>
            </a:pPr>
            <a:r>
              <a:rPr lang="en-US" b="true" sz="3500">
                <a:solidFill>
                  <a:srgbClr val="FFFFFF"/>
                </a:solidFill>
                <a:latin typeface="Public Sans Bold"/>
                <a:ea typeface="Public Sans Bold"/>
                <a:cs typeface="Public Sans Bold"/>
                <a:sym typeface="Public Sans Bold"/>
              </a:rPr>
              <a:t>•User satisfaction and perceived ease of use will be collected through short surveys or interviews administered to a sample of students and staff.</a:t>
            </a:r>
          </a:p>
        </p:txBody>
      </p:sp>
      <p:sp>
        <p:nvSpPr>
          <p:cNvPr name="AutoShape 9" id="9"/>
          <p:cNvSpPr/>
          <p:nvPr/>
        </p:nvSpPr>
        <p:spPr>
          <a:xfrm>
            <a:off x="7487570" y="6683375"/>
            <a:ext cx="9771730" cy="0"/>
          </a:xfrm>
          <a:prstGeom prst="line">
            <a:avLst/>
          </a:prstGeom>
          <a:ln cap="flat" w="19050">
            <a:solidFill>
              <a:srgbClr val="F5F5F4"/>
            </a:solidFill>
            <a:prstDash val="solid"/>
            <a:headEnd type="none" len="sm" w="sm"/>
            <a:tailEnd type="none" len="sm" w="sm"/>
          </a:ln>
        </p:spPr>
      </p:sp>
      <p:sp>
        <p:nvSpPr>
          <p:cNvPr name="TextBox 10" id="10"/>
          <p:cNvSpPr txBox="true"/>
          <p:nvPr/>
        </p:nvSpPr>
        <p:spPr>
          <a:xfrm rot="0">
            <a:off x="7629606" y="7102475"/>
            <a:ext cx="10293459" cy="2193290"/>
          </a:xfrm>
          <a:prstGeom prst="rect">
            <a:avLst/>
          </a:prstGeom>
        </p:spPr>
        <p:txBody>
          <a:bodyPr anchor="t" rtlCol="false" tIns="0" lIns="0" bIns="0" rIns="0">
            <a:spAutoFit/>
          </a:bodyPr>
          <a:lstStyle/>
          <a:p>
            <a:pPr algn="l" marL="0" indent="0" lvl="0">
              <a:lnSpc>
                <a:spcPts val="5919"/>
              </a:lnSpc>
            </a:pPr>
            <a:r>
              <a:rPr lang="en-US" b="true" sz="3699">
                <a:solidFill>
                  <a:srgbClr val="FFFFFF"/>
                </a:solidFill>
                <a:latin typeface="Public Sans Bold"/>
                <a:ea typeface="Public Sans Bold"/>
                <a:cs typeface="Public Sans Bold"/>
                <a:sym typeface="Public Sans Bold"/>
              </a:rPr>
              <a:t>•The machine's built-in usage counter will record daily usage frequency to track adoption rates.</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030236" y="408527"/>
            <a:ext cx="11492199" cy="9520195"/>
            <a:chOff x="0" y="0"/>
            <a:chExt cx="3026752" cy="2507377"/>
          </a:xfrm>
        </p:grpSpPr>
        <p:sp>
          <p:nvSpPr>
            <p:cNvPr name="Freeform 3" id="3"/>
            <p:cNvSpPr/>
            <p:nvPr/>
          </p:nvSpPr>
          <p:spPr>
            <a:xfrm flipH="false" flipV="false" rot="0">
              <a:off x="0" y="0"/>
              <a:ext cx="3026752" cy="2507377"/>
            </a:xfrm>
            <a:custGeom>
              <a:avLst/>
              <a:gdLst/>
              <a:ahLst/>
              <a:cxnLst/>
              <a:rect r="r" b="b" t="t" l="l"/>
              <a:pathLst>
                <a:path h="2507377" w="3026752">
                  <a:moveTo>
                    <a:pt x="43788" y="0"/>
                  </a:moveTo>
                  <a:lnTo>
                    <a:pt x="2982964" y="0"/>
                  </a:lnTo>
                  <a:cubicBezTo>
                    <a:pt x="3007147" y="0"/>
                    <a:pt x="3026752" y="19605"/>
                    <a:pt x="3026752" y="43788"/>
                  </a:cubicBezTo>
                  <a:lnTo>
                    <a:pt x="3026752" y="2463588"/>
                  </a:lnTo>
                  <a:cubicBezTo>
                    <a:pt x="3026752" y="2475202"/>
                    <a:pt x="3022139" y="2486339"/>
                    <a:pt x="3013927" y="2494551"/>
                  </a:cubicBezTo>
                  <a:cubicBezTo>
                    <a:pt x="3005715" y="2502763"/>
                    <a:pt x="2994577" y="2507377"/>
                    <a:pt x="2982964" y="2507377"/>
                  </a:cubicBezTo>
                  <a:lnTo>
                    <a:pt x="43788" y="2507377"/>
                  </a:lnTo>
                  <a:cubicBezTo>
                    <a:pt x="19605" y="2507377"/>
                    <a:pt x="0" y="2487772"/>
                    <a:pt x="0" y="2463588"/>
                  </a:cubicBezTo>
                  <a:lnTo>
                    <a:pt x="0" y="43788"/>
                  </a:lnTo>
                  <a:cubicBezTo>
                    <a:pt x="0" y="32175"/>
                    <a:pt x="4613" y="21037"/>
                    <a:pt x="12825" y="12825"/>
                  </a:cubicBezTo>
                  <a:cubicBezTo>
                    <a:pt x="21037" y="4613"/>
                    <a:pt x="32175" y="0"/>
                    <a:pt x="43788" y="0"/>
                  </a:cubicBezTo>
                  <a:close/>
                </a:path>
              </a:pathLst>
            </a:custGeom>
            <a:solidFill>
              <a:srgbClr val="FF568E"/>
            </a:solidFill>
          </p:spPr>
        </p:sp>
        <p:sp>
          <p:nvSpPr>
            <p:cNvPr name="TextBox 4" id="4"/>
            <p:cNvSpPr txBox="true"/>
            <p:nvPr/>
          </p:nvSpPr>
          <p:spPr>
            <a:xfrm>
              <a:off x="0" y="-38100"/>
              <a:ext cx="3026752" cy="2545477"/>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2180632"/>
            <a:ext cx="5314435" cy="5833110"/>
          </a:xfrm>
          <a:prstGeom prst="rect">
            <a:avLst/>
          </a:prstGeom>
        </p:spPr>
        <p:txBody>
          <a:bodyPr anchor="t" rtlCol="false" tIns="0" lIns="0" bIns="0" rIns="0">
            <a:spAutoFit/>
          </a:bodyPr>
          <a:lstStyle/>
          <a:p>
            <a:pPr algn="l" marL="0" indent="0" lvl="0">
              <a:lnSpc>
                <a:spcPts val="9240"/>
              </a:lnSpc>
              <a:spcBef>
                <a:spcPct val="0"/>
              </a:spcBef>
            </a:pPr>
            <a:r>
              <a:rPr lang="en-US" b="true" sz="6600">
                <a:solidFill>
                  <a:srgbClr val="C32157"/>
                </a:solidFill>
                <a:latin typeface="Public Sans Bold"/>
                <a:ea typeface="Public Sans Bold"/>
                <a:cs typeface="Public Sans Bold"/>
                <a:sym typeface="Public Sans Bold"/>
              </a:rPr>
              <a:t>We will collect data using the following methods:</a:t>
            </a:r>
          </a:p>
        </p:txBody>
      </p:sp>
      <p:sp>
        <p:nvSpPr>
          <p:cNvPr name="TextBox 6" id="6"/>
          <p:cNvSpPr txBox="true"/>
          <p:nvPr/>
        </p:nvSpPr>
        <p:spPr>
          <a:xfrm rot="0">
            <a:off x="7629606" y="391114"/>
            <a:ext cx="10293459" cy="3761740"/>
          </a:xfrm>
          <a:prstGeom prst="rect">
            <a:avLst/>
          </a:prstGeom>
        </p:spPr>
        <p:txBody>
          <a:bodyPr anchor="t" rtlCol="false" tIns="0" lIns="0" bIns="0" rIns="0">
            <a:spAutoFit/>
          </a:bodyPr>
          <a:lstStyle/>
          <a:p>
            <a:pPr algn="l" marL="0" indent="0" lvl="0">
              <a:lnSpc>
                <a:spcPts val="7520"/>
              </a:lnSpc>
            </a:pPr>
            <a:r>
              <a:rPr lang="en-US" b="true" sz="4700">
                <a:solidFill>
                  <a:srgbClr val="FFFFFF"/>
                </a:solidFill>
                <a:latin typeface="Public Sans Bold"/>
                <a:ea typeface="Public Sans Bold"/>
                <a:cs typeface="Public Sans Bold"/>
                <a:sym typeface="Public Sans Bold"/>
              </a:rPr>
              <a:t>•A watt-meter will measure the electrical power consumption during the drying and sanitization cycles of the machine.</a:t>
            </a:r>
          </a:p>
        </p:txBody>
      </p:sp>
      <p:sp>
        <p:nvSpPr>
          <p:cNvPr name="TextBox 7" id="7"/>
          <p:cNvSpPr txBox="true"/>
          <p:nvPr/>
        </p:nvSpPr>
        <p:spPr>
          <a:xfrm rot="0">
            <a:off x="7583678" y="4987649"/>
            <a:ext cx="10293459" cy="4524375"/>
          </a:xfrm>
          <a:prstGeom prst="rect">
            <a:avLst/>
          </a:prstGeom>
        </p:spPr>
        <p:txBody>
          <a:bodyPr anchor="t" rtlCol="false" tIns="0" lIns="0" bIns="0" rIns="0">
            <a:spAutoFit/>
          </a:bodyPr>
          <a:lstStyle/>
          <a:p>
            <a:pPr algn="l" marL="0" indent="0" lvl="0">
              <a:lnSpc>
                <a:spcPts val="7200"/>
              </a:lnSpc>
            </a:pPr>
            <a:r>
              <a:rPr lang="en-US" b="true" sz="4500">
                <a:solidFill>
                  <a:srgbClr val="FFFFFF"/>
                </a:solidFill>
                <a:latin typeface="Public Sans Bold"/>
                <a:ea typeface="Public Sans Bold"/>
                <a:cs typeface="Public Sans Bold"/>
                <a:sym typeface="Public Sans Bold"/>
              </a:rPr>
              <a:t>•The integrated Arduino system will automatically log operational data, including sensor activation times, fan and UV run durations, and total usage counts.</a:t>
            </a:r>
          </a:p>
        </p:txBody>
      </p:sp>
      <p:sp>
        <p:nvSpPr>
          <p:cNvPr name="AutoShape 8" id="8"/>
          <p:cNvSpPr/>
          <p:nvPr/>
        </p:nvSpPr>
        <p:spPr>
          <a:xfrm>
            <a:off x="7583678" y="4660739"/>
            <a:ext cx="9771730" cy="0"/>
          </a:xfrm>
          <a:prstGeom prst="line">
            <a:avLst/>
          </a:prstGeom>
          <a:ln cap="flat" w="19050">
            <a:solidFill>
              <a:srgbClr val="F5F5F4"/>
            </a:solidFill>
            <a:prstDash val="solid"/>
            <a:headEnd type="none" len="sm" w="sm"/>
            <a:tailEnd type="none" len="sm" w="sm"/>
          </a:ln>
        </p:spPr>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631292" y="339090"/>
            <a:ext cx="13025415" cy="1236345"/>
          </a:xfrm>
          <a:prstGeom prst="rect">
            <a:avLst/>
          </a:prstGeom>
        </p:spPr>
        <p:txBody>
          <a:bodyPr anchor="t" rtlCol="false" tIns="0" lIns="0" bIns="0" rIns="0">
            <a:spAutoFit/>
          </a:bodyPr>
          <a:lstStyle/>
          <a:p>
            <a:pPr algn="ctr" marL="0" indent="0" lvl="0">
              <a:lnSpc>
                <a:spcPts val="10080"/>
              </a:lnSpc>
              <a:spcBef>
                <a:spcPct val="0"/>
              </a:spcBef>
            </a:pPr>
            <a:r>
              <a:rPr lang="en-US" b="true" sz="7200">
                <a:solidFill>
                  <a:srgbClr val="FF568E"/>
                </a:solidFill>
                <a:latin typeface="Public Sans Bold"/>
                <a:ea typeface="Public Sans Bold"/>
                <a:cs typeface="Public Sans Bold"/>
                <a:sym typeface="Public Sans Bold"/>
              </a:rPr>
              <a:t>Research Plan Analysis</a:t>
            </a:r>
          </a:p>
        </p:txBody>
      </p:sp>
      <p:sp>
        <p:nvSpPr>
          <p:cNvPr name="TextBox 3" id="3"/>
          <p:cNvSpPr txBox="true"/>
          <p:nvPr/>
        </p:nvSpPr>
        <p:spPr>
          <a:xfrm rot="0">
            <a:off x="747755" y="2790825"/>
            <a:ext cx="16792490" cy="4524375"/>
          </a:xfrm>
          <a:prstGeom prst="rect">
            <a:avLst/>
          </a:prstGeom>
        </p:spPr>
        <p:txBody>
          <a:bodyPr anchor="t" rtlCol="false" tIns="0" lIns="0" bIns="0" rIns="0">
            <a:spAutoFit/>
          </a:bodyPr>
          <a:lstStyle/>
          <a:p>
            <a:pPr algn="just" marL="0" indent="0" lvl="0">
              <a:lnSpc>
                <a:spcPts val="7200"/>
              </a:lnSpc>
            </a:pPr>
            <a:r>
              <a:rPr lang="en-US" sz="4500">
                <a:solidFill>
                  <a:srgbClr val="2E312B"/>
                </a:solidFill>
                <a:latin typeface="Public Sans"/>
                <a:ea typeface="Public Sans"/>
                <a:cs typeface="Public Sans"/>
                <a:sym typeface="Public Sans"/>
              </a:rPr>
              <a:t>The researchers will be using both qualitative and quantitative research. Descriptive statistics, including means (averages) and percentages, will be used to evaluate performance. Results will be visualized through line graphs (for drying over time) and bar graphs (for comparing sanitization levels).</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47755" y="339090"/>
            <a:ext cx="16792490" cy="1236345"/>
          </a:xfrm>
          <a:prstGeom prst="rect">
            <a:avLst/>
          </a:prstGeom>
        </p:spPr>
        <p:txBody>
          <a:bodyPr anchor="t" rtlCol="false" tIns="0" lIns="0" bIns="0" rIns="0">
            <a:spAutoFit/>
          </a:bodyPr>
          <a:lstStyle/>
          <a:p>
            <a:pPr algn="ctr" marL="0" indent="0" lvl="0">
              <a:lnSpc>
                <a:spcPts val="10080"/>
              </a:lnSpc>
              <a:spcBef>
                <a:spcPct val="0"/>
              </a:spcBef>
            </a:pPr>
            <a:r>
              <a:rPr lang="en-US" b="true" sz="7200">
                <a:solidFill>
                  <a:srgbClr val="FF568E"/>
                </a:solidFill>
                <a:latin typeface="Public Sans Bold"/>
                <a:ea typeface="Public Sans Bold"/>
                <a:cs typeface="Public Sans Bold"/>
                <a:sym typeface="Public Sans Bold"/>
              </a:rPr>
              <a:t>Research Ethical Considerations</a:t>
            </a:r>
          </a:p>
        </p:txBody>
      </p:sp>
      <p:sp>
        <p:nvSpPr>
          <p:cNvPr name="TextBox 3" id="3"/>
          <p:cNvSpPr txBox="true"/>
          <p:nvPr/>
        </p:nvSpPr>
        <p:spPr>
          <a:xfrm rot="0">
            <a:off x="747755" y="2790825"/>
            <a:ext cx="16792490" cy="4524375"/>
          </a:xfrm>
          <a:prstGeom prst="rect">
            <a:avLst/>
          </a:prstGeom>
        </p:spPr>
        <p:txBody>
          <a:bodyPr anchor="t" rtlCol="false" tIns="0" lIns="0" bIns="0" rIns="0">
            <a:spAutoFit/>
          </a:bodyPr>
          <a:lstStyle/>
          <a:p>
            <a:pPr algn="just" marL="0" indent="0" lvl="0">
              <a:lnSpc>
                <a:spcPts val="7200"/>
              </a:lnSpc>
            </a:pPr>
            <a:r>
              <a:rPr lang="en-US" sz="4500">
                <a:solidFill>
                  <a:srgbClr val="2E312B"/>
                </a:solidFill>
                <a:latin typeface="Public Sans"/>
                <a:ea typeface="Public Sans"/>
                <a:cs typeface="Public Sans"/>
                <a:sym typeface="Public Sans"/>
              </a:rPr>
              <a:t>The study focuses on participant safety, especially regarding UV-C exposure. The machine will be designed with shielding to prevent direct eye or skin contact. All survey data from students and staff will remain anonymous, and a research permit will be secured before testing.</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47755" y="339090"/>
            <a:ext cx="16792490" cy="1236345"/>
          </a:xfrm>
          <a:prstGeom prst="rect">
            <a:avLst/>
          </a:prstGeom>
        </p:spPr>
        <p:txBody>
          <a:bodyPr anchor="t" rtlCol="false" tIns="0" lIns="0" bIns="0" rIns="0">
            <a:spAutoFit/>
          </a:bodyPr>
          <a:lstStyle/>
          <a:p>
            <a:pPr algn="ctr" marL="0" indent="0" lvl="0">
              <a:lnSpc>
                <a:spcPts val="10080"/>
              </a:lnSpc>
              <a:spcBef>
                <a:spcPct val="0"/>
              </a:spcBef>
            </a:pPr>
            <a:r>
              <a:rPr lang="en-US" b="true" sz="7200">
                <a:solidFill>
                  <a:srgbClr val="FF568E"/>
                </a:solidFill>
                <a:latin typeface="Public Sans Bold"/>
                <a:ea typeface="Public Sans Bold"/>
                <a:cs typeface="Public Sans Bold"/>
                <a:sym typeface="Public Sans Bold"/>
              </a:rPr>
              <a:t>Research Proper Waste Management</a:t>
            </a:r>
          </a:p>
        </p:txBody>
      </p:sp>
      <p:sp>
        <p:nvSpPr>
          <p:cNvPr name="TextBox 3" id="3"/>
          <p:cNvSpPr txBox="true"/>
          <p:nvPr/>
        </p:nvSpPr>
        <p:spPr>
          <a:xfrm rot="0">
            <a:off x="747755" y="2790825"/>
            <a:ext cx="16792490" cy="6353175"/>
          </a:xfrm>
          <a:prstGeom prst="rect">
            <a:avLst/>
          </a:prstGeom>
        </p:spPr>
        <p:txBody>
          <a:bodyPr anchor="t" rtlCol="false" tIns="0" lIns="0" bIns="0" rIns="0">
            <a:spAutoFit/>
          </a:bodyPr>
          <a:lstStyle/>
          <a:p>
            <a:pPr algn="just" marL="0" indent="0" lvl="0">
              <a:lnSpc>
                <a:spcPts val="7200"/>
              </a:lnSpc>
            </a:pPr>
            <a:r>
              <a:rPr lang="en-US" sz="4500">
                <a:solidFill>
                  <a:srgbClr val="2E312B"/>
                </a:solidFill>
                <a:latin typeface="Public Sans"/>
                <a:ea typeface="Public Sans"/>
                <a:cs typeface="Public Sans"/>
                <a:sym typeface="Public Sans"/>
              </a:rPr>
              <a:t>Troughout the prototyping and testing phases, responsible material handling and disposal will be maintained. Construction waste, primarily metal scraps, will be segregated for proper recycling. Water collected during the umbrella drying process will be channeled into a collection tray for safe disposal down a sanitary drain or repurposed for non-potable uses (e.g., plant watering).</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47755" y="339090"/>
            <a:ext cx="16792490" cy="1236345"/>
          </a:xfrm>
          <a:prstGeom prst="rect">
            <a:avLst/>
          </a:prstGeom>
        </p:spPr>
        <p:txBody>
          <a:bodyPr anchor="t" rtlCol="false" tIns="0" lIns="0" bIns="0" rIns="0">
            <a:spAutoFit/>
          </a:bodyPr>
          <a:lstStyle/>
          <a:p>
            <a:pPr algn="ctr" marL="0" indent="0" lvl="0">
              <a:lnSpc>
                <a:spcPts val="10080"/>
              </a:lnSpc>
              <a:spcBef>
                <a:spcPct val="0"/>
              </a:spcBef>
            </a:pPr>
            <a:r>
              <a:rPr lang="en-US" b="true" sz="7200">
                <a:solidFill>
                  <a:srgbClr val="FF568E"/>
                </a:solidFill>
                <a:latin typeface="Public Sans Bold"/>
                <a:ea typeface="Public Sans Bold"/>
                <a:cs typeface="Public Sans Bold"/>
                <a:sym typeface="Public Sans Bold"/>
              </a:rPr>
              <a:t>Research Proper Waste Management</a:t>
            </a:r>
          </a:p>
        </p:txBody>
      </p:sp>
      <p:sp>
        <p:nvSpPr>
          <p:cNvPr name="TextBox 3" id="3"/>
          <p:cNvSpPr txBox="true"/>
          <p:nvPr/>
        </p:nvSpPr>
        <p:spPr>
          <a:xfrm rot="0">
            <a:off x="747755" y="2790825"/>
            <a:ext cx="16792490" cy="5438775"/>
          </a:xfrm>
          <a:prstGeom prst="rect">
            <a:avLst/>
          </a:prstGeom>
        </p:spPr>
        <p:txBody>
          <a:bodyPr anchor="t" rtlCol="false" tIns="0" lIns="0" bIns="0" rIns="0">
            <a:spAutoFit/>
          </a:bodyPr>
          <a:lstStyle/>
          <a:p>
            <a:pPr algn="just" marL="0" indent="0" lvl="0">
              <a:lnSpc>
                <a:spcPts val="7200"/>
              </a:lnSpc>
            </a:pPr>
            <a:r>
              <a:rPr lang="en-US" sz="4500">
                <a:solidFill>
                  <a:srgbClr val="2E312B"/>
                </a:solidFill>
                <a:latin typeface="Public Sans"/>
                <a:ea typeface="Public Sans"/>
                <a:cs typeface="Public Sans"/>
                <a:sym typeface="Public Sans"/>
              </a:rPr>
              <a:t>Upon project completion, all electronic components (e.g., Arduino, sensors) classified as e-waste will be disposed of through designated local e-waste collection points or recycling facilities, strictly avoiding landfill disposal. All incidental packaging materials will be recycled where local facilities permit.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5270" y="1028700"/>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alphaModFix amt="6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563130" y="1028700"/>
            <a:ext cx="8229600" cy="8229600"/>
          </a:xfrm>
          <a:custGeom>
            <a:avLst/>
            <a:gdLst/>
            <a:ahLst/>
            <a:cxnLst/>
            <a:rect r="r" b="b" t="t" l="l"/>
            <a:pathLst>
              <a:path h="8229600" w="8229600">
                <a:moveTo>
                  <a:pt x="8229600" y="0"/>
                </a:moveTo>
                <a:lnTo>
                  <a:pt x="0" y="0"/>
                </a:lnTo>
                <a:lnTo>
                  <a:pt x="0" y="8229600"/>
                </a:lnTo>
                <a:lnTo>
                  <a:pt x="8229600" y="8229600"/>
                </a:lnTo>
                <a:lnTo>
                  <a:pt x="8229600" y="0"/>
                </a:lnTo>
                <a:close/>
              </a:path>
            </a:pathLst>
          </a:custGeom>
          <a:blipFill>
            <a:blip r:embed="rId2">
              <a:alphaModFix amt="69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771519" y="4000598"/>
            <a:ext cx="14744962" cy="2057204"/>
          </a:xfrm>
          <a:prstGeom prst="rect">
            <a:avLst/>
          </a:prstGeom>
        </p:spPr>
        <p:txBody>
          <a:bodyPr anchor="t" rtlCol="false" tIns="0" lIns="0" bIns="0" rIns="0">
            <a:spAutoFit/>
          </a:bodyPr>
          <a:lstStyle/>
          <a:p>
            <a:pPr algn="ctr" marL="0" indent="0" lvl="0">
              <a:lnSpc>
                <a:spcPts val="16810"/>
              </a:lnSpc>
            </a:pPr>
            <a:r>
              <a:rPr lang="en-US" b="true" sz="12007">
                <a:solidFill>
                  <a:srgbClr val="C32157"/>
                </a:solidFill>
                <a:latin typeface="Cy Grotesk Key Bold"/>
                <a:ea typeface="Cy Grotesk Key Bold"/>
                <a:cs typeface="Cy Grotesk Key Bold"/>
                <a:sym typeface="Cy Grotesk Key Bold"/>
              </a:rPr>
              <a:t>Thank You</a:t>
            </a:r>
          </a:p>
        </p:txBody>
      </p:sp>
      <p:sp>
        <p:nvSpPr>
          <p:cNvPr name="TextBox 5" id="5"/>
          <p:cNvSpPr txBox="true"/>
          <p:nvPr/>
        </p:nvSpPr>
        <p:spPr>
          <a:xfrm rot="0">
            <a:off x="1771519" y="6377931"/>
            <a:ext cx="14744962" cy="540333"/>
          </a:xfrm>
          <a:prstGeom prst="rect">
            <a:avLst/>
          </a:prstGeom>
        </p:spPr>
        <p:txBody>
          <a:bodyPr anchor="t" rtlCol="false" tIns="0" lIns="0" bIns="0" rIns="0">
            <a:spAutoFit/>
          </a:bodyPr>
          <a:lstStyle/>
          <a:p>
            <a:pPr algn="ctr" marL="0" indent="0" lvl="0">
              <a:lnSpc>
                <a:spcPts val="4342"/>
              </a:lnSpc>
              <a:spcBef>
                <a:spcPct val="0"/>
              </a:spcBef>
            </a:pPr>
            <a:r>
              <a:rPr lang="en-US" sz="3102" spc="620">
                <a:solidFill>
                  <a:srgbClr val="2E312B"/>
                </a:solidFill>
                <a:latin typeface="Public Sans"/>
                <a:ea typeface="Public Sans"/>
                <a:cs typeface="Public Sans"/>
                <a:sym typeface="Public Sans"/>
              </a:rPr>
              <a:t>June 23,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DAHNVGnyNfE</dc:identifier>
  <dcterms:modified xsi:type="dcterms:W3CDTF">2011-08-01T06:04:30Z</dcterms:modified>
  <cp:revision>1</cp:revision>
  <dc:title>Pink and Peach Modern Company Research Proposal Presentation</dc:title>
</cp:coreProperties>
</file>